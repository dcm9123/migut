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300" r:id="rId5"/>
    <p:sldId id="279" r:id="rId6"/>
    <p:sldId id="293" r:id="rId7"/>
    <p:sldId id="280" r:id="rId8"/>
    <p:sldId id="281" r:id="rId9"/>
    <p:sldId id="283" r:id="rId10"/>
    <p:sldId id="287" r:id="rId11"/>
    <p:sldId id="292" r:id="rId12"/>
    <p:sldId id="284" r:id="rId13"/>
    <p:sldId id="296" r:id="rId14"/>
    <p:sldId id="298" r:id="rId15"/>
    <p:sldId id="299" r:id="rId16"/>
    <p:sldId id="301" r:id="rId17"/>
    <p:sldId id="303" r:id="rId18"/>
    <p:sldId id="304" r:id="rId19"/>
    <p:sldId id="289" r:id="rId20"/>
    <p:sldId id="290" r:id="rId21"/>
    <p:sldId id="29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AFB8"/>
    <a:srgbClr val="0E2A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69"/>
    <p:restoredTop sz="87137"/>
  </p:normalViewPr>
  <p:slideViewPr>
    <p:cSldViewPr snapToGrid="0">
      <p:cViewPr>
        <p:scale>
          <a:sx n="110" d="100"/>
          <a:sy n="110" d="100"/>
        </p:scale>
        <p:origin x="142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0CC7D0C-36CF-AC44-80AE-B88A8B49D3A2}" type="doc">
      <dgm:prSet loTypeId="urn:microsoft.com/office/officeart/2024/layout/BulletTimelineInverted" loCatId="" qsTypeId="urn:microsoft.com/office/officeart/2005/8/quickstyle/simple1" qsCatId="simple" csTypeId="urn:microsoft.com/office/officeart/2005/8/colors/accent2_1" csCatId="accent2" phldr="1"/>
      <dgm:spPr/>
    </dgm:pt>
    <dgm:pt modelId="{FFF7FD2B-103E-DE43-A779-AF6EF57C72F5}">
      <dgm:prSet phldrT="[Text]"/>
      <dgm:spPr/>
      <dgm:t>
        <a:bodyPr/>
        <a:lstStyle/>
        <a:p>
          <a:pPr>
            <a:defRPr b="1"/>
          </a:pPr>
          <a:r>
            <a:rPr lang="en-US" dirty="0"/>
            <a:t>Raw sequencing data</a:t>
          </a:r>
        </a:p>
      </dgm:t>
    </dgm:pt>
    <dgm:pt modelId="{0A8B07EA-DE23-5F42-BDFE-965309A30CA9}" type="parTrans" cxnId="{D197DDCE-94BA-9F48-87E7-EAA34E85AF6C}">
      <dgm:prSet/>
      <dgm:spPr/>
      <dgm:t>
        <a:bodyPr/>
        <a:lstStyle/>
        <a:p>
          <a:endParaRPr lang="en-US"/>
        </a:p>
      </dgm:t>
    </dgm:pt>
    <dgm:pt modelId="{1DC36113-55BA-5E4A-A59A-77ABEF57655A}" type="sibTrans" cxnId="{D197DDCE-94BA-9F48-87E7-EAA34E85AF6C}">
      <dgm:prSet/>
      <dgm:spPr/>
      <dgm:t>
        <a:bodyPr/>
        <a:lstStyle/>
        <a:p>
          <a:endParaRPr lang="en-US"/>
        </a:p>
      </dgm:t>
    </dgm:pt>
    <dgm:pt modelId="{EAB02B7D-D298-1848-B31B-EB7BA599B7FD}">
      <dgm:prSet phldrT="[Text]"/>
      <dgm:spPr/>
      <dgm:t>
        <a:bodyPr/>
        <a:lstStyle/>
        <a:p>
          <a:pPr>
            <a:defRPr b="1"/>
          </a:pPr>
          <a:r>
            <a:rPr lang="en-US" dirty="0"/>
            <a:t>Illumina adapter removal</a:t>
          </a:r>
        </a:p>
      </dgm:t>
    </dgm:pt>
    <dgm:pt modelId="{D960491F-A3B9-674C-9014-14026908175D}" type="parTrans" cxnId="{253D5C49-714F-634D-BEB9-A7CCA5FA917D}">
      <dgm:prSet/>
      <dgm:spPr/>
      <dgm:t>
        <a:bodyPr/>
        <a:lstStyle/>
        <a:p>
          <a:endParaRPr lang="en-US"/>
        </a:p>
      </dgm:t>
    </dgm:pt>
    <dgm:pt modelId="{B969CA3E-18E5-E249-8FA3-76F0BCA970FF}" type="sibTrans" cxnId="{253D5C49-714F-634D-BEB9-A7CCA5FA917D}">
      <dgm:prSet/>
      <dgm:spPr/>
      <dgm:t>
        <a:bodyPr/>
        <a:lstStyle/>
        <a:p>
          <a:endParaRPr lang="en-US"/>
        </a:p>
      </dgm:t>
    </dgm:pt>
    <dgm:pt modelId="{1430CB74-6701-FE4C-8C42-630C7BC19A44}">
      <dgm:prSet phldrT="[Text]"/>
      <dgm:spPr/>
      <dgm:t>
        <a:bodyPr/>
        <a:lstStyle/>
        <a:p>
          <a:pPr>
            <a:defRPr b="1"/>
          </a:pPr>
          <a:r>
            <a:rPr lang="en-US" dirty="0" err="1"/>
            <a:t>PolyG</a:t>
          </a:r>
          <a:r>
            <a:rPr lang="en-US" dirty="0"/>
            <a:t> tract removal</a:t>
          </a:r>
        </a:p>
      </dgm:t>
    </dgm:pt>
    <dgm:pt modelId="{2455CB09-75BF-3847-88B2-CBADAC452D26}" type="parTrans" cxnId="{A15AC9EC-2C6C-0840-8764-33EB958C4ED8}">
      <dgm:prSet/>
      <dgm:spPr/>
      <dgm:t>
        <a:bodyPr/>
        <a:lstStyle/>
        <a:p>
          <a:endParaRPr lang="en-US"/>
        </a:p>
      </dgm:t>
    </dgm:pt>
    <dgm:pt modelId="{16377DCF-B128-4A4D-8A56-3E1D96876F22}" type="sibTrans" cxnId="{A15AC9EC-2C6C-0840-8764-33EB958C4ED8}">
      <dgm:prSet/>
      <dgm:spPr/>
      <dgm:t>
        <a:bodyPr/>
        <a:lstStyle/>
        <a:p>
          <a:endParaRPr lang="en-US"/>
        </a:p>
      </dgm:t>
    </dgm:pt>
    <dgm:pt modelId="{E36D493A-4D9B-7344-80EC-FB5F8AE21FB7}">
      <dgm:prSet phldrT="[Text]"/>
      <dgm:spPr/>
      <dgm:t>
        <a:bodyPr/>
        <a:lstStyle/>
        <a:p>
          <a:r>
            <a:rPr lang="en-US" dirty="0"/>
            <a:t>Illumina </a:t>
          </a:r>
          <a:r>
            <a:rPr lang="en-US" dirty="0" err="1"/>
            <a:t>NovaSeq</a:t>
          </a:r>
          <a:r>
            <a:rPr lang="en-US" dirty="0"/>
            <a:t> PE 150 cycles</a:t>
          </a:r>
        </a:p>
      </dgm:t>
    </dgm:pt>
    <dgm:pt modelId="{F1B65C9D-003B-6747-A8AA-9FFC4351EB97}" type="parTrans" cxnId="{C603AC4C-AC35-6443-91FC-B7D7D38E0C9B}">
      <dgm:prSet/>
      <dgm:spPr/>
      <dgm:t>
        <a:bodyPr/>
        <a:lstStyle/>
        <a:p>
          <a:endParaRPr lang="en-US"/>
        </a:p>
      </dgm:t>
    </dgm:pt>
    <dgm:pt modelId="{38F011F1-6B6B-BC46-9756-E37ACFE983AC}" type="sibTrans" cxnId="{C603AC4C-AC35-6443-91FC-B7D7D38E0C9B}">
      <dgm:prSet/>
      <dgm:spPr/>
      <dgm:t>
        <a:bodyPr/>
        <a:lstStyle/>
        <a:p>
          <a:endParaRPr lang="en-US"/>
        </a:p>
      </dgm:t>
    </dgm:pt>
    <dgm:pt modelId="{C00CDEC4-DC2A-FA49-B84D-6EE7195FE674}">
      <dgm:prSet phldrT="[Text]"/>
      <dgm:spPr/>
      <dgm:t>
        <a:bodyPr/>
        <a:lstStyle/>
        <a:p>
          <a:r>
            <a:rPr lang="en-US" dirty="0" err="1"/>
            <a:t>BBDuk</a:t>
          </a:r>
          <a:endParaRPr lang="en-US" dirty="0"/>
        </a:p>
      </dgm:t>
    </dgm:pt>
    <dgm:pt modelId="{F7D888A1-CF70-A842-9A7E-4CC94FA0B139}" type="parTrans" cxnId="{EDB50E8C-8445-C34B-BE1C-332A0649EAE9}">
      <dgm:prSet/>
      <dgm:spPr/>
      <dgm:t>
        <a:bodyPr/>
        <a:lstStyle/>
        <a:p>
          <a:endParaRPr lang="en-US"/>
        </a:p>
      </dgm:t>
    </dgm:pt>
    <dgm:pt modelId="{040838F8-172B-CB49-BE2E-E7DC4D0C6440}" type="sibTrans" cxnId="{EDB50E8C-8445-C34B-BE1C-332A0649EAE9}">
      <dgm:prSet/>
      <dgm:spPr/>
      <dgm:t>
        <a:bodyPr/>
        <a:lstStyle/>
        <a:p>
          <a:endParaRPr lang="en-US"/>
        </a:p>
      </dgm:t>
    </dgm:pt>
    <dgm:pt modelId="{0B76E85D-4995-7445-A242-A4889E688D70}">
      <dgm:prSet phldrT="[Text]"/>
      <dgm:spPr/>
      <dgm:t>
        <a:bodyPr/>
        <a:lstStyle/>
        <a:p>
          <a:r>
            <a:rPr lang="en-US" dirty="0" err="1"/>
            <a:t>BBDuk</a:t>
          </a:r>
          <a:endParaRPr lang="en-US" dirty="0"/>
        </a:p>
      </dgm:t>
    </dgm:pt>
    <dgm:pt modelId="{E96B2378-50CC-FD4C-B75D-58F801E85DB7}" type="parTrans" cxnId="{9BBA5BAC-A1BE-E942-8E37-E7AB75B186EE}">
      <dgm:prSet/>
      <dgm:spPr/>
      <dgm:t>
        <a:bodyPr/>
        <a:lstStyle/>
        <a:p>
          <a:endParaRPr lang="en-US"/>
        </a:p>
      </dgm:t>
    </dgm:pt>
    <dgm:pt modelId="{81A6B845-29F4-5442-A250-964F53F5CA2D}" type="sibTrans" cxnId="{9BBA5BAC-A1BE-E942-8E37-E7AB75B186EE}">
      <dgm:prSet/>
      <dgm:spPr/>
      <dgm:t>
        <a:bodyPr/>
        <a:lstStyle/>
        <a:p>
          <a:endParaRPr lang="en-US"/>
        </a:p>
      </dgm:t>
    </dgm:pt>
    <dgm:pt modelId="{16AF69E8-EE51-644C-9572-8722DDC69D40}">
      <dgm:prSet phldrT="[Text]"/>
      <dgm:spPr/>
      <dgm:t>
        <a:bodyPr/>
        <a:lstStyle/>
        <a:p>
          <a:pPr>
            <a:defRPr b="1"/>
          </a:pPr>
          <a:r>
            <a:rPr lang="en-US" dirty="0"/>
            <a:t>Low-quality read removal</a:t>
          </a:r>
        </a:p>
      </dgm:t>
    </dgm:pt>
    <dgm:pt modelId="{1C0DDC79-D5D4-8C4B-A920-EDFFA181D32F}" type="parTrans" cxnId="{915EC334-AED6-914A-BDC0-EF411EF53339}">
      <dgm:prSet/>
      <dgm:spPr/>
      <dgm:t>
        <a:bodyPr/>
        <a:lstStyle/>
        <a:p>
          <a:endParaRPr lang="en-US"/>
        </a:p>
      </dgm:t>
    </dgm:pt>
    <dgm:pt modelId="{B5F919A2-A6BD-C644-B9A9-66B7EEEFB875}" type="sibTrans" cxnId="{915EC334-AED6-914A-BDC0-EF411EF53339}">
      <dgm:prSet/>
      <dgm:spPr/>
      <dgm:t>
        <a:bodyPr/>
        <a:lstStyle/>
        <a:p>
          <a:endParaRPr lang="en-US"/>
        </a:p>
      </dgm:t>
    </dgm:pt>
    <dgm:pt modelId="{7E5EAB39-1E6A-F343-A46D-1AE3DBCC1859}">
      <dgm:prSet phldrT="[Text]"/>
      <dgm:spPr/>
      <dgm:t>
        <a:bodyPr/>
        <a:lstStyle/>
        <a:p>
          <a:pPr>
            <a:defRPr b="1"/>
          </a:pPr>
          <a:r>
            <a:rPr lang="en-US" dirty="0"/>
            <a:t>Read merging</a:t>
          </a:r>
        </a:p>
      </dgm:t>
    </dgm:pt>
    <dgm:pt modelId="{179E79B5-67F2-284D-A913-441FDBF8CBB1}" type="parTrans" cxnId="{9B0D2BCE-A898-3B46-9DEC-B8FCB634120E}">
      <dgm:prSet/>
      <dgm:spPr/>
      <dgm:t>
        <a:bodyPr/>
        <a:lstStyle/>
        <a:p>
          <a:endParaRPr lang="en-US"/>
        </a:p>
      </dgm:t>
    </dgm:pt>
    <dgm:pt modelId="{89FFCE5F-737D-424F-9655-40503A09EF38}" type="sibTrans" cxnId="{9B0D2BCE-A898-3B46-9DEC-B8FCB634120E}">
      <dgm:prSet/>
      <dgm:spPr/>
      <dgm:t>
        <a:bodyPr/>
        <a:lstStyle/>
        <a:p>
          <a:endParaRPr lang="en-US"/>
        </a:p>
      </dgm:t>
    </dgm:pt>
    <dgm:pt modelId="{EB4E3E2D-0779-9441-9937-05B5474EC857}">
      <dgm:prSet phldrT="[Text]"/>
      <dgm:spPr/>
      <dgm:t>
        <a:bodyPr/>
        <a:lstStyle/>
        <a:p>
          <a:r>
            <a:rPr lang="en-US" dirty="0" err="1"/>
            <a:t>Prinseq</a:t>
          </a:r>
          <a:endParaRPr lang="en-US" dirty="0"/>
        </a:p>
      </dgm:t>
    </dgm:pt>
    <dgm:pt modelId="{B490C7EE-CD48-A547-9C93-EAB4386395F7}" type="parTrans" cxnId="{FF156B58-EFD7-0248-A73B-76C65125B3F9}">
      <dgm:prSet/>
      <dgm:spPr/>
      <dgm:t>
        <a:bodyPr/>
        <a:lstStyle/>
        <a:p>
          <a:endParaRPr lang="en-US"/>
        </a:p>
      </dgm:t>
    </dgm:pt>
    <dgm:pt modelId="{1E52E8D7-C87B-FB42-9708-E04718AD7245}" type="sibTrans" cxnId="{FF156B58-EFD7-0248-A73B-76C65125B3F9}">
      <dgm:prSet/>
      <dgm:spPr/>
      <dgm:t>
        <a:bodyPr/>
        <a:lstStyle/>
        <a:p>
          <a:endParaRPr lang="en-US"/>
        </a:p>
      </dgm:t>
    </dgm:pt>
    <dgm:pt modelId="{C197AF01-E852-C94D-B600-D7315894FE0F}">
      <dgm:prSet phldrT="[Text]"/>
      <dgm:spPr/>
      <dgm:t>
        <a:bodyPr/>
        <a:lstStyle/>
        <a:p>
          <a:r>
            <a:rPr lang="en-US" dirty="0" err="1"/>
            <a:t>BBMap</a:t>
          </a:r>
          <a:endParaRPr lang="en-US" dirty="0"/>
        </a:p>
      </dgm:t>
    </dgm:pt>
    <dgm:pt modelId="{43422022-3277-A541-9F86-AA14FC61BF8E}" type="parTrans" cxnId="{3D43809E-A78E-A94C-B662-7C554BE82F20}">
      <dgm:prSet/>
      <dgm:spPr/>
      <dgm:t>
        <a:bodyPr/>
        <a:lstStyle/>
        <a:p>
          <a:endParaRPr lang="en-US"/>
        </a:p>
      </dgm:t>
    </dgm:pt>
    <dgm:pt modelId="{3EB39560-CC6D-1145-8FC4-0FA84E9224AB}" type="sibTrans" cxnId="{3D43809E-A78E-A94C-B662-7C554BE82F20}">
      <dgm:prSet/>
      <dgm:spPr/>
      <dgm:t>
        <a:bodyPr/>
        <a:lstStyle/>
        <a:p>
          <a:endParaRPr lang="en-US"/>
        </a:p>
      </dgm:t>
    </dgm:pt>
    <dgm:pt modelId="{82D4A898-9CAA-B149-B2BB-A730A647CA8E}">
      <dgm:prSet phldrT="[Text]"/>
      <dgm:spPr/>
      <dgm:t>
        <a:bodyPr/>
        <a:lstStyle/>
        <a:p>
          <a:pPr>
            <a:defRPr b="1"/>
          </a:pPr>
          <a:r>
            <a:rPr lang="en-US" dirty="0"/>
            <a:t>Metagenomics analysis</a:t>
          </a:r>
        </a:p>
      </dgm:t>
    </dgm:pt>
    <dgm:pt modelId="{4F6B7870-5F45-1A47-B782-1A4F2645247B}" type="parTrans" cxnId="{94409C59-C958-3E47-9952-67B7D78B5C35}">
      <dgm:prSet/>
      <dgm:spPr/>
      <dgm:t>
        <a:bodyPr/>
        <a:lstStyle/>
        <a:p>
          <a:endParaRPr lang="en-US"/>
        </a:p>
      </dgm:t>
    </dgm:pt>
    <dgm:pt modelId="{CE4D49C1-118C-6D49-B8AD-3C06F8399E12}" type="sibTrans" cxnId="{94409C59-C958-3E47-9952-67B7D78B5C35}">
      <dgm:prSet/>
      <dgm:spPr/>
      <dgm:t>
        <a:bodyPr/>
        <a:lstStyle/>
        <a:p>
          <a:endParaRPr lang="en-US"/>
        </a:p>
      </dgm:t>
    </dgm:pt>
    <dgm:pt modelId="{B658C946-746E-624A-8450-1EB98D9BCF56}">
      <dgm:prSet phldrT="[Text]"/>
      <dgm:spPr/>
      <dgm:t>
        <a:bodyPr/>
        <a:lstStyle/>
        <a:p>
          <a:r>
            <a:rPr lang="en-US" dirty="0" err="1"/>
            <a:t>Metaphlan</a:t>
          </a:r>
          <a:r>
            <a:rPr lang="en-US" dirty="0"/>
            <a:t> 4</a:t>
          </a:r>
        </a:p>
      </dgm:t>
    </dgm:pt>
    <dgm:pt modelId="{37E1DFB6-CA86-F34E-9FBF-BAAE913E88C7}" type="parTrans" cxnId="{25C1A730-FBCC-5A46-A6C2-BA8408D4A43B}">
      <dgm:prSet/>
      <dgm:spPr/>
      <dgm:t>
        <a:bodyPr/>
        <a:lstStyle/>
        <a:p>
          <a:endParaRPr lang="en-US"/>
        </a:p>
      </dgm:t>
    </dgm:pt>
    <dgm:pt modelId="{DA476B9B-5865-6042-B38E-BC4137D4B6AA}" type="sibTrans" cxnId="{25C1A730-FBCC-5A46-A6C2-BA8408D4A43B}">
      <dgm:prSet/>
      <dgm:spPr/>
      <dgm:t>
        <a:bodyPr/>
        <a:lstStyle/>
        <a:p>
          <a:endParaRPr lang="en-US"/>
        </a:p>
      </dgm:t>
    </dgm:pt>
    <dgm:pt modelId="{9F5B61AB-C3D3-D24A-AAE2-2CD327A3AE79}">
      <dgm:prSet phldrT="[Text]"/>
      <dgm:spPr/>
      <dgm:t>
        <a:bodyPr/>
        <a:lstStyle/>
        <a:p>
          <a:pPr>
            <a:defRPr b="1"/>
          </a:pPr>
          <a:r>
            <a:rPr lang="en-US" dirty="0"/>
            <a:t>Human reads removal</a:t>
          </a:r>
        </a:p>
      </dgm:t>
    </dgm:pt>
    <dgm:pt modelId="{093C4377-81FE-B54B-834E-631671257C1B}" type="parTrans" cxnId="{B75CA329-6D31-3946-849E-F2C4A8D15A9F}">
      <dgm:prSet/>
      <dgm:spPr/>
      <dgm:t>
        <a:bodyPr/>
        <a:lstStyle/>
        <a:p>
          <a:endParaRPr lang="en-US"/>
        </a:p>
      </dgm:t>
    </dgm:pt>
    <dgm:pt modelId="{D4DD6089-70D3-FF42-98AB-B6132C870765}" type="sibTrans" cxnId="{B75CA329-6D31-3946-849E-F2C4A8D15A9F}">
      <dgm:prSet/>
      <dgm:spPr/>
      <dgm:t>
        <a:bodyPr/>
        <a:lstStyle/>
        <a:p>
          <a:endParaRPr lang="en-US"/>
        </a:p>
      </dgm:t>
    </dgm:pt>
    <dgm:pt modelId="{C9E0AED0-03D4-0342-8543-9759A1CEF1C5}">
      <dgm:prSet phldrT="[Text]"/>
      <dgm:spPr/>
      <dgm:t>
        <a:bodyPr/>
        <a:lstStyle/>
        <a:p>
          <a:r>
            <a:rPr lang="en-US" dirty="0" err="1"/>
            <a:t>Bmtagger</a:t>
          </a:r>
          <a:endParaRPr lang="en-US" dirty="0"/>
        </a:p>
      </dgm:t>
    </dgm:pt>
    <dgm:pt modelId="{8193FF42-9D45-BE47-A38C-9DAAF9DD56BA}" type="parTrans" cxnId="{DBAB0BE6-4F6D-BD4B-BA97-8FE43120BFC9}">
      <dgm:prSet/>
      <dgm:spPr/>
      <dgm:t>
        <a:bodyPr/>
        <a:lstStyle/>
        <a:p>
          <a:endParaRPr lang="en-US"/>
        </a:p>
      </dgm:t>
    </dgm:pt>
    <dgm:pt modelId="{BC2FA3F4-F94E-684D-BC34-CA9ED516B7CD}" type="sibTrans" cxnId="{DBAB0BE6-4F6D-BD4B-BA97-8FE43120BFC9}">
      <dgm:prSet/>
      <dgm:spPr/>
      <dgm:t>
        <a:bodyPr/>
        <a:lstStyle/>
        <a:p>
          <a:endParaRPr lang="en-US"/>
        </a:p>
      </dgm:t>
    </dgm:pt>
    <dgm:pt modelId="{347CA8A2-8C17-7241-A298-D570E141F13D}">
      <dgm:prSet phldrT="[Text]"/>
      <dgm:spPr/>
      <dgm:t>
        <a:bodyPr/>
        <a:lstStyle/>
        <a:p>
          <a:r>
            <a:rPr lang="en-US" dirty="0"/>
            <a:t>SGB</a:t>
          </a:r>
        </a:p>
      </dgm:t>
    </dgm:pt>
    <dgm:pt modelId="{1C86A8F8-B8CB-1046-A97F-7B66AB1AC85B}" type="parTrans" cxnId="{3D6BC82A-A229-B74C-B3FB-FF864DEB46AB}">
      <dgm:prSet/>
      <dgm:spPr/>
    </dgm:pt>
    <dgm:pt modelId="{C44CE05E-4B28-EB4A-955C-0C131BB9A96F}" type="sibTrans" cxnId="{3D6BC82A-A229-B74C-B3FB-FF864DEB46AB}">
      <dgm:prSet/>
      <dgm:spPr/>
    </dgm:pt>
    <dgm:pt modelId="{A2BC832A-C050-614F-9907-89F6D9C7ED61}">
      <dgm:prSet phldrT="[Text]"/>
      <dgm:spPr/>
      <dgm:t>
        <a:bodyPr/>
        <a:lstStyle/>
        <a:p>
          <a:r>
            <a:rPr lang="en-US" dirty="0"/>
            <a:t>GTDB r220</a:t>
          </a:r>
        </a:p>
      </dgm:t>
    </dgm:pt>
    <dgm:pt modelId="{670178F3-BC97-2B43-9230-B32E6751E349}" type="parTrans" cxnId="{647E9249-1258-B242-9FE2-22A0BF4660BD}">
      <dgm:prSet/>
      <dgm:spPr/>
    </dgm:pt>
    <dgm:pt modelId="{27DA6F4D-9272-F84F-9209-CFA7F7C563EA}" type="sibTrans" cxnId="{647E9249-1258-B242-9FE2-22A0BF4660BD}">
      <dgm:prSet/>
      <dgm:spPr/>
    </dgm:pt>
    <dgm:pt modelId="{E669F94F-7878-924C-AA61-42C4961033B3}" type="pres">
      <dgm:prSet presAssocID="{20CC7D0C-36CF-AC44-80AE-B88A8B49D3A2}" presName="root" presStyleCnt="0">
        <dgm:presLayoutVars>
          <dgm:dir/>
          <dgm:animLvl val="lvl"/>
        </dgm:presLayoutVars>
      </dgm:prSet>
      <dgm:spPr/>
    </dgm:pt>
    <dgm:pt modelId="{11D5533B-91C4-EE44-97FD-7C7682E466A2}" type="pres">
      <dgm:prSet presAssocID="{20CC7D0C-36CF-AC44-80AE-B88A8B49D3A2}" presName="divider" presStyleCnt="0"/>
      <dgm:spPr/>
    </dgm:pt>
    <dgm:pt modelId="{DE906657-A153-C448-B837-8FE09150A9B3}" type="pres">
      <dgm:prSet presAssocID="{20CC7D0C-36CF-AC44-80AE-B88A8B49D3A2}" presName="rectBar" presStyleLbl="dkBgShp" presStyleIdx="0" presStyleCnt="9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5D23A7F2-ECCF-F34C-829A-BC13E8D6D6E2}" type="pres">
      <dgm:prSet presAssocID="{20CC7D0C-36CF-AC44-80AE-B88A8B49D3A2}" presName="chevronArrow" presStyleLbl="dkBgShp" presStyleIdx="1" presStyleCnt="9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AB377ABA-5323-784D-BD59-94F972B5B058}" type="pres">
      <dgm:prSet presAssocID="{20CC7D0C-36CF-AC44-80AE-B88A8B49D3A2}" presName="nodes" presStyleCnt="0">
        <dgm:presLayoutVars>
          <dgm:chMax/>
          <dgm:chPref/>
          <dgm:animLvl val="lvl"/>
        </dgm:presLayoutVars>
      </dgm:prSet>
      <dgm:spPr/>
    </dgm:pt>
    <dgm:pt modelId="{3E2C2881-6AF4-724D-AE82-1ABF439B3CDE}" type="pres">
      <dgm:prSet presAssocID="{FFF7FD2B-103E-DE43-A779-AF6EF57C72F5}" presName="composite" presStyleCnt="0"/>
      <dgm:spPr/>
    </dgm:pt>
    <dgm:pt modelId="{9CEC24B6-C89D-E942-8D9A-73349B55C755}" type="pres">
      <dgm:prSet presAssocID="{FFF7FD2B-103E-DE43-A779-AF6EF57C72F5}" presName="DropPinPlaceHolder" presStyleCnt="0"/>
      <dgm:spPr/>
    </dgm:pt>
    <dgm:pt modelId="{96673B83-4658-D740-91FB-52B6FF72A50A}" type="pres">
      <dgm:prSet presAssocID="{FFF7FD2B-103E-DE43-A779-AF6EF57C72F5}" presName="DropPin" presStyleLbl="alignNode1" presStyleIdx="0" presStyleCnt="7"/>
      <dgm:spPr/>
    </dgm:pt>
    <dgm:pt modelId="{459D9E9B-ACD2-2C4F-9CE0-0979E8C372F5}" type="pres">
      <dgm:prSet presAssocID="{FFF7FD2B-103E-DE43-A779-AF6EF57C72F5}" presName="Ellipse" presStyleLbl="fgAcc1" presStyleIdx="0" presStyleCnt="7"/>
      <dgm:spPr/>
    </dgm:pt>
    <dgm:pt modelId="{5165A7C7-DB3C-3F4F-A4C9-221FD70004B1}" type="pres">
      <dgm:prSet presAssocID="{FFF7FD2B-103E-DE43-A779-AF6EF57C72F5}" presName="L2TextContainer" presStyleLbl="revTx" presStyleIdx="0" presStyleCnt="14">
        <dgm:presLayoutVars>
          <dgm:bulletEnabled val="1"/>
        </dgm:presLayoutVars>
      </dgm:prSet>
      <dgm:spPr/>
    </dgm:pt>
    <dgm:pt modelId="{3DC20D57-9C6B-4740-93D8-DBF0745B09EC}" type="pres">
      <dgm:prSet presAssocID="{FFF7FD2B-103E-DE43-A779-AF6EF57C72F5}" presName="L1TextContainer" presStyleLbl="revTx" presStyleIdx="1" presStyleCnt="14">
        <dgm:presLayoutVars>
          <dgm:chMax val="1"/>
          <dgm:chPref val="1"/>
          <dgm:bulletEnabled val="1"/>
        </dgm:presLayoutVars>
      </dgm:prSet>
      <dgm:spPr/>
    </dgm:pt>
    <dgm:pt modelId="{1506A386-146A-2D43-9AFE-FF58A8BBF56C}" type="pres">
      <dgm:prSet presAssocID="{FFF7FD2B-103E-DE43-A779-AF6EF57C72F5}" presName="ConnectLine" presStyleLbl="dkBgShp" presStyleIdx="2" presStyleCnt="9"/>
      <dgm:spPr/>
    </dgm:pt>
    <dgm:pt modelId="{476AB14B-E630-164C-BD9E-7204930390A7}" type="pres">
      <dgm:prSet presAssocID="{FFF7FD2B-103E-DE43-A779-AF6EF57C72F5}" presName="ConnectorPoint" presStyleCnt="0"/>
      <dgm:spPr/>
    </dgm:pt>
    <dgm:pt modelId="{6B18A7B6-FC70-5649-B1CA-FB73E5C65EC7}" type="pres">
      <dgm:prSet presAssocID="{FFF7FD2B-103E-DE43-A779-AF6EF57C72F5}" presName="Bullet" presStyleLbl="lnNode1" presStyleIdx="0" presStyleCnt="7"/>
      <dgm:spPr/>
    </dgm:pt>
    <dgm:pt modelId="{1FC9D310-20AC-C94B-885D-D028F974E6D3}" type="pres">
      <dgm:prSet presAssocID="{FFF7FD2B-103E-DE43-A779-AF6EF57C72F5}" presName="EmptyPlaceHolder" presStyleCnt="0"/>
      <dgm:spPr/>
    </dgm:pt>
    <dgm:pt modelId="{BE07445B-908C-1146-815F-349380725386}" type="pres">
      <dgm:prSet presAssocID="{1DC36113-55BA-5E4A-A59A-77ABEF57655A}" presName="spaceBetweenRectangles" presStyleCnt="0"/>
      <dgm:spPr/>
    </dgm:pt>
    <dgm:pt modelId="{2D568DA9-67B5-9241-A43F-E7354E2EB4CD}" type="pres">
      <dgm:prSet presAssocID="{EAB02B7D-D298-1848-B31B-EB7BA599B7FD}" presName="composite" presStyleCnt="0"/>
      <dgm:spPr/>
    </dgm:pt>
    <dgm:pt modelId="{77666E88-9ECE-FF4C-B0B3-F64254978CD6}" type="pres">
      <dgm:prSet presAssocID="{EAB02B7D-D298-1848-B31B-EB7BA599B7FD}" presName="DropPinPlaceHolder" presStyleCnt="0"/>
      <dgm:spPr/>
    </dgm:pt>
    <dgm:pt modelId="{3C747464-5E4D-CD4F-ABE0-55D9EF8ED0EA}" type="pres">
      <dgm:prSet presAssocID="{EAB02B7D-D298-1848-B31B-EB7BA599B7FD}" presName="DropPin" presStyleLbl="alignNode1" presStyleIdx="1" presStyleCnt="7"/>
      <dgm:spPr/>
    </dgm:pt>
    <dgm:pt modelId="{2A2708EA-37D7-124A-888A-394D6FE52494}" type="pres">
      <dgm:prSet presAssocID="{EAB02B7D-D298-1848-B31B-EB7BA599B7FD}" presName="Ellipse" presStyleLbl="fgAcc1" presStyleIdx="1" presStyleCnt="7"/>
      <dgm:spPr/>
    </dgm:pt>
    <dgm:pt modelId="{AC152AB3-329E-FC4D-A41C-1C34DCFC912C}" type="pres">
      <dgm:prSet presAssocID="{EAB02B7D-D298-1848-B31B-EB7BA599B7FD}" presName="L2TextContainer" presStyleLbl="revTx" presStyleIdx="2" presStyleCnt="14">
        <dgm:presLayoutVars>
          <dgm:bulletEnabled val="1"/>
        </dgm:presLayoutVars>
      </dgm:prSet>
      <dgm:spPr/>
    </dgm:pt>
    <dgm:pt modelId="{6403A277-8D69-C14B-969F-11AB776DBAE1}" type="pres">
      <dgm:prSet presAssocID="{EAB02B7D-D298-1848-B31B-EB7BA599B7FD}" presName="L1TextContainer" presStyleLbl="revTx" presStyleIdx="3" presStyleCnt="14">
        <dgm:presLayoutVars>
          <dgm:chMax val="1"/>
          <dgm:chPref val="1"/>
          <dgm:bulletEnabled val="1"/>
        </dgm:presLayoutVars>
      </dgm:prSet>
      <dgm:spPr/>
    </dgm:pt>
    <dgm:pt modelId="{24AEA3E3-4CA4-8F4E-9FF1-34A2AF97C2C9}" type="pres">
      <dgm:prSet presAssocID="{EAB02B7D-D298-1848-B31B-EB7BA599B7FD}" presName="ConnectLine" presStyleLbl="dkBgShp" presStyleIdx="3" presStyleCnt="9"/>
      <dgm:spPr/>
    </dgm:pt>
    <dgm:pt modelId="{757BCFE4-185C-FA47-8FDB-F999EF1F3465}" type="pres">
      <dgm:prSet presAssocID="{EAB02B7D-D298-1848-B31B-EB7BA599B7FD}" presName="ConnectorPoint" presStyleCnt="0"/>
      <dgm:spPr/>
    </dgm:pt>
    <dgm:pt modelId="{99669736-ED08-7446-8D5E-236FA36E84D0}" type="pres">
      <dgm:prSet presAssocID="{EAB02B7D-D298-1848-B31B-EB7BA599B7FD}" presName="Bullet" presStyleLbl="lnNode1" presStyleIdx="1" presStyleCnt="7"/>
      <dgm:spPr/>
    </dgm:pt>
    <dgm:pt modelId="{EEAA3423-8887-1941-AB61-37F1E098611E}" type="pres">
      <dgm:prSet presAssocID="{EAB02B7D-D298-1848-B31B-EB7BA599B7FD}" presName="EmptyPlaceHolder" presStyleCnt="0"/>
      <dgm:spPr/>
    </dgm:pt>
    <dgm:pt modelId="{FFCACF7D-368F-F942-AECA-6C14ED25FA39}" type="pres">
      <dgm:prSet presAssocID="{B969CA3E-18E5-E249-8FA3-76F0BCA970FF}" presName="spaceBetweenRectangles" presStyleCnt="0"/>
      <dgm:spPr/>
    </dgm:pt>
    <dgm:pt modelId="{BA4043FB-AB7B-4A4B-8EFB-59A7BB160646}" type="pres">
      <dgm:prSet presAssocID="{1430CB74-6701-FE4C-8C42-630C7BC19A44}" presName="composite" presStyleCnt="0"/>
      <dgm:spPr/>
    </dgm:pt>
    <dgm:pt modelId="{F27E4581-0F38-D141-A199-1440CCE71E9C}" type="pres">
      <dgm:prSet presAssocID="{1430CB74-6701-FE4C-8C42-630C7BC19A44}" presName="DropPinPlaceHolder" presStyleCnt="0"/>
      <dgm:spPr/>
    </dgm:pt>
    <dgm:pt modelId="{036AAC0F-7B4F-7543-9A40-2E694B011213}" type="pres">
      <dgm:prSet presAssocID="{1430CB74-6701-FE4C-8C42-630C7BC19A44}" presName="DropPin" presStyleLbl="alignNode1" presStyleIdx="2" presStyleCnt="7"/>
      <dgm:spPr/>
    </dgm:pt>
    <dgm:pt modelId="{D1099B03-DD1B-7F43-A2A1-DE9BA9F29F45}" type="pres">
      <dgm:prSet presAssocID="{1430CB74-6701-FE4C-8C42-630C7BC19A44}" presName="Ellipse" presStyleLbl="fgAcc1" presStyleIdx="2" presStyleCnt="7"/>
      <dgm:spPr/>
    </dgm:pt>
    <dgm:pt modelId="{C1718CDE-F63D-084B-9A5F-9BF0A0879C7F}" type="pres">
      <dgm:prSet presAssocID="{1430CB74-6701-FE4C-8C42-630C7BC19A44}" presName="L2TextContainer" presStyleLbl="revTx" presStyleIdx="4" presStyleCnt="14">
        <dgm:presLayoutVars>
          <dgm:bulletEnabled val="1"/>
        </dgm:presLayoutVars>
      </dgm:prSet>
      <dgm:spPr/>
    </dgm:pt>
    <dgm:pt modelId="{F92CE055-81E5-3A4C-8DEF-2EF2E3ECFE8D}" type="pres">
      <dgm:prSet presAssocID="{1430CB74-6701-FE4C-8C42-630C7BC19A44}" presName="L1TextContainer" presStyleLbl="revTx" presStyleIdx="5" presStyleCnt="14">
        <dgm:presLayoutVars>
          <dgm:chMax val="1"/>
          <dgm:chPref val="1"/>
          <dgm:bulletEnabled val="1"/>
        </dgm:presLayoutVars>
      </dgm:prSet>
      <dgm:spPr/>
    </dgm:pt>
    <dgm:pt modelId="{84496AD9-8CE1-624F-BD69-17BA1D1C43FD}" type="pres">
      <dgm:prSet presAssocID="{1430CB74-6701-FE4C-8C42-630C7BC19A44}" presName="ConnectLine" presStyleLbl="dkBgShp" presStyleIdx="4" presStyleCnt="9"/>
      <dgm:spPr/>
    </dgm:pt>
    <dgm:pt modelId="{B51889E0-241F-9A43-A890-E37BC7F18FD1}" type="pres">
      <dgm:prSet presAssocID="{1430CB74-6701-FE4C-8C42-630C7BC19A44}" presName="ConnectorPoint" presStyleCnt="0"/>
      <dgm:spPr/>
    </dgm:pt>
    <dgm:pt modelId="{395D53D9-ED55-974A-8449-349A35C0EA0B}" type="pres">
      <dgm:prSet presAssocID="{1430CB74-6701-FE4C-8C42-630C7BC19A44}" presName="Bullet" presStyleLbl="lnNode1" presStyleIdx="2" presStyleCnt="7"/>
      <dgm:spPr/>
    </dgm:pt>
    <dgm:pt modelId="{44BF6F24-B4A2-B24A-B633-0A886B63139A}" type="pres">
      <dgm:prSet presAssocID="{1430CB74-6701-FE4C-8C42-630C7BC19A44}" presName="EmptyPlaceHolder" presStyleCnt="0"/>
      <dgm:spPr/>
    </dgm:pt>
    <dgm:pt modelId="{A22443C6-7EE1-9A47-9B49-5271350271DB}" type="pres">
      <dgm:prSet presAssocID="{16377DCF-B128-4A4D-8A56-3E1D96876F22}" presName="spaceBetweenRectangles" presStyleCnt="0"/>
      <dgm:spPr/>
    </dgm:pt>
    <dgm:pt modelId="{89C3357C-783B-0E4B-8CCE-40848E7559FC}" type="pres">
      <dgm:prSet presAssocID="{16AF69E8-EE51-644C-9572-8722DDC69D40}" presName="composite" presStyleCnt="0"/>
      <dgm:spPr/>
    </dgm:pt>
    <dgm:pt modelId="{5CA061DA-B1AF-2F40-91AA-4762B065EF09}" type="pres">
      <dgm:prSet presAssocID="{16AF69E8-EE51-644C-9572-8722DDC69D40}" presName="DropPinPlaceHolder" presStyleCnt="0"/>
      <dgm:spPr/>
    </dgm:pt>
    <dgm:pt modelId="{68C73E26-0EE9-3C4F-B929-FDB2C0DEEA7C}" type="pres">
      <dgm:prSet presAssocID="{16AF69E8-EE51-644C-9572-8722DDC69D40}" presName="DropPin" presStyleLbl="alignNode1" presStyleIdx="3" presStyleCnt="7"/>
      <dgm:spPr/>
    </dgm:pt>
    <dgm:pt modelId="{803C36A2-1050-BF42-BE97-4F76F62711A6}" type="pres">
      <dgm:prSet presAssocID="{16AF69E8-EE51-644C-9572-8722DDC69D40}" presName="Ellipse" presStyleLbl="fgAcc1" presStyleIdx="3" presStyleCnt="7"/>
      <dgm:spPr/>
    </dgm:pt>
    <dgm:pt modelId="{9C3D1FFF-B1B7-1D44-98D1-F0EAE0993E3D}" type="pres">
      <dgm:prSet presAssocID="{16AF69E8-EE51-644C-9572-8722DDC69D40}" presName="L2TextContainer" presStyleLbl="revTx" presStyleIdx="6" presStyleCnt="14">
        <dgm:presLayoutVars>
          <dgm:bulletEnabled val="1"/>
        </dgm:presLayoutVars>
      </dgm:prSet>
      <dgm:spPr/>
    </dgm:pt>
    <dgm:pt modelId="{D83E6DF7-8379-494D-A8C8-97781C166482}" type="pres">
      <dgm:prSet presAssocID="{16AF69E8-EE51-644C-9572-8722DDC69D40}" presName="L1TextContainer" presStyleLbl="revTx" presStyleIdx="7" presStyleCnt="14">
        <dgm:presLayoutVars>
          <dgm:chMax val="1"/>
          <dgm:chPref val="1"/>
          <dgm:bulletEnabled val="1"/>
        </dgm:presLayoutVars>
      </dgm:prSet>
      <dgm:spPr/>
    </dgm:pt>
    <dgm:pt modelId="{08FF3C0B-F88F-344B-831B-20896348F0F4}" type="pres">
      <dgm:prSet presAssocID="{16AF69E8-EE51-644C-9572-8722DDC69D40}" presName="ConnectLine" presStyleLbl="dkBgShp" presStyleIdx="5" presStyleCnt="9"/>
      <dgm:spPr/>
    </dgm:pt>
    <dgm:pt modelId="{ED3236DF-7558-B341-A7C8-7211D532F9AB}" type="pres">
      <dgm:prSet presAssocID="{16AF69E8-EE51-644C-9572-8722DDC69D40}" presName="ConnectorPoint" presStyleCnt="0"/>
      <dgm:spPr/>
    </dgm:pt>
    <dgm:pt modelId="{5C2F6C80-48A2-EF46-8466-4A293D969951}" type="pres">
      <dgm:prSet presAssocID="{16AF69E8-EE51-644C-9572-8722DDC69D40}" presName="Bullet" presStyleLbl="lnNode1" presStyleIdx="3" presStyleCnt="7"/>
      <dgm:spPr/>
    </dgm:pt>
    <dgm:pt modelId="{524D34EB-C322-ED42-ACD3-D7DF5CFB2EB8}" type="pres">
      <dgm:prSet presAssocID="{16AF69E8-EE51-644C-9572-8722DDC69D40}" presName="EmptyPlaceHolder" presStyleCnt="0"/>
      <dgm:spPr/>
    </dgm:pt>
    <dgm:pt modelId="{041C4FF7-287B-D348-A2E2-2F15F960935E}" type="pres">
      <dgm:prSet presAssocID="{B5F919A2-A6BD-C644-B9A9-66B7EEEFB875}" presName="spaceBetweenRectangles" presStyleCnt="0"/>
      <dgm:spPr/>
    </dgm:pt>
    <dgm:pt modelId="{7A09BAFE-9F17-3E45-A3CD-99EDB36966BD}" type="pres">
      <dgm:prSet presAssocID="{9F5B61AB-C3D3-D24A-AAE2-2CD327A3AE79}" presName="composite" presStyleCnt="0"/>
      <dgm:spPr/>
    </dgm:pt>
    <dgm:pt modelId="{44C3B9A2-DE1A-9341-823F-B1085F66089D}" type="pres">
      <dgm:prSet presAssocID="{9F5B61AB-C3D3-D24A-AAE2-2CD327A3AE79}" presName="DropPinPlaceHolder" presStyleCnt="0"/>
      <dgm:spPr/>
    </dgm:pt>
    <dgm:pt modelId="{E76705C5-D8C7-8446-895F-596A05C4F6A7}" type="pres">
      <dgm:prSet presAssocID="{9F5B61AB-C3D3-D24A-AAE2-2CD327A3AE79}" presName="DropPin" presStyleLbl="alignNode1" presStyleIdx="4" presStyleCnt="7"/>
      <dgm:spPr/>
    </dgm:pt>
    <dgm:pt modelId="{7B9ED2D8-12AC-9C4C-86C6-AC11F3094DC1}" type="pres">
      <dgm:prSet presAssocID="{9F5B61AB-C3D3-D24A-AAE2-2CD327A3AE79}" presName="Ellipse" presStyleLbl="fgAcc1" presStyleIdx="4" presStyleCnt="7"/>
      <dgm:spPr/>
    </dgm:pt>
    <dgm:pt modelId="{9A12C38C-A503-8147-AE12-4D4CAEC77596}" type="pres">
      <dgm:prSet presAssocID="{9F5B61AB-C3D3-D24A-AAE2-2CD327A3AE79}" presName="L2TextContainer" presStyleLbl="revTx" presStyleIdx="8" presStyleCnt="14">
        <dgm:presLayoutVars>
          <dgm:bulletEnabled val="1"/>
        </dgm:presLayoutVars>
      </dgm:prSet>
      <dgm:spPr/>
    </dgm:pt>
    <dgm:pt modelId="{645EC21B-D860-F34E-8EBE-34E4D5770B33}" type="pres">
      <dgm:prSet presAssocID="{9F5B61AB-C3D3-D24A-AAE2-2CD327A3AE79}" presName="L1TextContainer" presStyleLbl="revTx" presStyleIdx="9" presStyleCnt="14">
        <dgm:presLayoutVars>
          <dgm:chMax val="1"/>
          <dgm:chPref val="1"/>
          <dgm:bulletEnabled val="1"/>
        </dgm:presLayoutVars>
      </dgm:prSet>
      <dgm:spPr/>
    </dgm:pt>
    <dgm:pt modelId="{D6E4D181-4302-5348-87CF-5ACB0D6A9B31}" type="pres">
      <dgm:prSet presAssocID="{9F5B61AB-C3D3-D24A-AAE2-2CD327A3AE79}" presName="ConnectLine" presStyleLbl="dkBgShp" presStyleIdx="6" presStyleCnt="9"/>
      <dgm:spPr/>
    </dgm:pt>
    <dgm:pt modelId="{CFA2B4BB-6491-5E49-A22D-2008FF65EC42}" type="pres">
      <dgm:prSet presAssocID="{9F5B61AB-C3D3-D24A-AAE2-2CD327A3AE79}" presName="ConnectorPoint" presStyleCnt="0"/>
      <dgm:spPr/>
    </dgm:pt>
    <dgm:pt modelId="{9278DF18-8917-6947-A990-F14671223ED8}" type="pres">
      <dgm:prSet presAssocID="{9F5B61AB-C3D3-D24A-AAE2-2CD327A3AE79}" presName="Bullet" presStyleLbl="lnNode1" presStyleIdx="4" presStyleCnt="7"/>
      <dgm:spPr/>
    </dgm:pt>
    <dgm:pt modelId="{0E69F669-000C-5C49-84B8-B00F41C014AC}" type="pres">
      <dgm:prSet presAssocID="{9F5B61AB-C3D3-D24A-AAE2-2CD327A3AE79}" presName="EmptyPlaceHolder" presStyleCnt="0"/>
      <dgm:spPr/>
    </dgm:pt>
    <dgm:pt modelId="{C9E6AB10-CE28-E24A-BE32-8B32D73D84FB}" type="pres">
      <dgm:prSet presAssocID="{D4DD6089-70D3-FF42-98AB-B6132C870765}" presName="spaceBetweenRectangles" presStyleCnt="0"/>
      <dgm:spPr/>
    </dgm:pt>
    <dgm:pt modelId="{7BD58E12-BC3E-CA41-908D-EA5653126773}" type="pres">
      <dgm:prSet presAssocID="{7E5EAB39-1E6A-F343-A46D-1AE3DBCC1859}" presName="composite" presStyleCnt="0"/>
      <dgm:spPr/>
    </dgm:pt>
    <dgm:pt modelId="{751F9EB4-4E40-D24E-86D5-7592BBCA2A8F}" type="pres">
      <dgm:prSet presAssocID="{7E5EAB39-1E6A-F343-A46D-1AE3DBCC1859}" presName="DropPinPlaceHolder" presStyleCnt="0"/>
      <dgm:spPr/>
    </dgm:pt>
    <dgm:pt modelId="{26A262DA-3584-7C44-AE33-A7FBFB7C6DCB}" type="pres">
      <dgm:prSet presAssocID="{7E5EAB39-1E6A-F343-A46D-1AE3DBCC1859}" presName="DropPin" presStyleLbl="alignNode1" presStyleIdx="5" presStyleCnt="7"/>
      <dgm:spPr/>
    </dgm:pt>
    <dgm:pt modelId="{A4665BD7-C388-F74F-BA7D-78224D5EA692}" type="pres">
      <dgm:prSet presAssocID="{7E5EAB39-1E6A-F343-A46D-1AE3DBCC1859}" presName="Ellipse" presStyleLbl="fgAcc1" presStyleIdx="5" presStyleCnt="7"/>
      <dgm:spPr/>
    </dgm:pt>
    <dgm:pt modelId="{447C8757-6FC0-3443-B841-3D7E5077C9A9}" type="pres">
      <dgm:prSet presAssocID="{7E5EAB39-1E6A-F343-A46D-1AE3DBCC1859}" presName="L2TextContainer" presStyleLbl="revTx" presStyleIdx="10" presStyleCnt="14">
        <dgm:presLayoutVars>
          <dgm:bulletEnabled val="1"/>
        </dgm:presLayoutVars>
      </dgm:prSet>
      <dgm:spPr/>
    </dgm:pt>
    <dgm:pt modelId="{7587BAC8-60D1-2C4A-B965-6E92034D8560}" type="pres">
      <dgm:prSet presAssocID="{7E5EAB39-1E6A-F343-A46D-1AE3DBCC1859}" presName="L1TextContainer" presStyleLbl="revTx" presStyleIdx="11" presStyleCnt="14">
        <dgm:presLayoutVars>
          <dgm:chMax val="1"/>
          <dgm:chPref val="1"/>
          <dgm:bulletEnabled val="1"/>
        </dgm:presLayoutVars>
      </dgm:prSet>
      <dgm:spPr/>
    </dgm:pt>
    <dgm:pt modelId="{87E0C7FC-8705-AE42-B424-436DDAE67CE6}" type="pres">
      <dgm:prSet presAssocID="{7E5EAB39-1E6A-F343-A46D-1AE3DBCC1859}" presName="ConnectLine" presStyleLbl="dkBgShp" presStyleIdx="7" presStyleCnt="9"/>
      <dgm:spPr/>
    </dgm:pt>
    <dgm:pt modelId="{B454A72D-BE46-E749-AC40-FC61237BE875}" type="pres">
      <dgm:prSet presAssocID="{7E5EAB39-1E6A-F343-A46D-1AE3DBCC1859}" presName="ConnectorPoint" presStyleCnt="0"/>
      <dgm:spPr/>
    </dgm:pt>
    <dgm:pt modelId="{4999F736-5F61-CE47-BEA7-4570355F1680}" type="pres">
      <dgm:prSet presAssocID="{7E5EAB39-1E6A-F343-A46D-1AE3DBCC1859}" presName="Bullet" presStyleLbl="lnNode1" presStyleIdx="5" presStyleCnt="7"/>
      <dgm:spPr/>
    </dgm:pt>
    <dgm:pt modelId="{B074E092-4F77-114D-BD7B-67F84806D925}" type="pres">
      <dgm:prSet presAssocID="{7E5EAB39-1E6A-F343-A46D-1AE3DBCC1859}" presName="EmptyPlaceHolder" presStyleCnt="0"/>
      <dgm:spPr/>
    </dgm:pt>
    <dgm:pt modelId="{8678AE49-6D19-D04D-8C2F-67E2BCEB0EC6}" type="pres">
      <dgm:prSet presAssocID="{89FFCE5F-737D-424F-9655-40503A09EF38}" presName="spaceBetweenRectangles" presStyleCnt="0"/>
      <dgm:spPr/>
    </dgm:pt>
    <dgm:pt modelId="{986C41A3-343D-C64E-810E-0DEFCD41B00A}" type="pres">
      <dgm:prSet presAssocID="{82D4A898-9CAA-B149-B2BB-A730A647CA8E}" presName="composite" presStyleCnt="0"/>
      <dgm:spPr/>
    </dgm:pt>
    <dgm:pt modelId="{6934829D-7E7F-B649-AFB5-17776416CF02}" type="pres">
      <dgm:prSet presAssocID="{82D4A898-9CAA-B149-B2BB-A730A647CA8E}" presName="DropPinPlaceHolder" presStyleCnt="0"/>
      <dgm:spPr/>
    </dgm:pt>
    <dgm:pt modelId="{45E627B6-4F41-9E46-97A5-AAF07293F2AD}" type="pres">
      <dgm:prSet presAssocID="{82D4A898-9CAA-B149-B2BB-A730A647CA8E}" presName="DropPin" presStyleLbl="alignNode1" presStyleIdx="6" presStyleCnt="7"/>
      <dgm:spPr/>
    </dgm:pt>
    <dgm:pt modelId="{0CE8FDAC-44F7-B94D-806C-8BF9296D7D3D}" type="pres">
      <dgm:prSet presAssocID="{82D4A898-9CAA-B149-B2BB-A730A647CA8E}" presName="Ellipse" presStyleLbl="fgAcc1" presStyleIdx="6" presStyleCnt="7"/>
      <dgm:spPr/>
    </dgm:pt>
    <dgm:pt modelId="{32648804-1460-9544-BF08-180F4E85563E}" type="pres">
      <dgm:prSet presAssocID="{82D4A898-9CAA-B149-B2BB-A730A647CA8E}" presName="L2TextContainer" presStyleLbl="revTx" presStyleIdx="12" presStyleCnt="14">
        <dgm:presLayoutVars>
          <dgm:bulletEnabled val="1"/>
        </dgm:presLayoutVars>
      </dgm:prSet>
      <dgm:spPr/>
    </dgm:pt>
    <dgm:pt modelId="{131792EB-4F35-6A4C-8ED9-49470C759502}" type="pres">
      <dgm:prSet presAssocID="{82D4A898-9CAA-B149-B2BB-A730A647CA8E}" presName="L1TextContainer" presStyleLbl="revTx" presStyleIdx="13" presStyleCnt="14">
        <dgm:presLayoutVars>
          <dgm:chMax val="1"/>
          <dgm:chPref val="1"/>
          <dgm:bulletEnabled val="1"/>
        </dgm:presLayoutVars>
      </dgm:prSet>
      <dgm:spPr/>
    </dgm:pt>
    <dgm:pt modelId="{5A79F3CA-4449-2948-9F33-F1DD7F8549AB}" type="pres">
      <dgm:prSet presAssocID="{82D4A898-9CAA-B149-B2BB-A730A647CA8E}" presName="ConnectLine" presStyleLbl="dkBgShp" presStyleIdx="8" presStyleCnt="9"/>
      <dgm:spPr/>
    </dgm:pt>
    <dgm:pt modelId="{3CC77CBB-30CE-1B4C-9424-7E084D76B11F}" type="pres">
      <dgm:prSet presAssocID="{82D4A898-9CAA-B149-B2BB-A730A647CA8E}" presName="ConnectorPoint" presStyleCnt="0"/>
      <dgm:spPr/>
    </dgm:pt>
    <dgm:pt modelId="{B51B899D-BE20-8047-8AAF-9B7227856E6B}" type="pres">
      <dgm:prSet presAssocID="{82D4A898-9CAA-B149-B2BB-A730A647CA8E}" presName="Bullet" presStyleLbl="lnNode1" presStyleIdx="6" presStyleCnt="7"/>
      <dgm:spPr/>
    </dgm:pt>
    <dgm:pt modelId="{587A9E2E-3460-C64C-A7D0-3B4AFEDA2823}" type="pres">
      <dgm:prSet presAssocID="{82D4A898-9CAA-B149-B2BB-A730A647CA8E}" presName="EmptyPlaceHolder" presStyleCnt="0"/>
      <dgm:spPr/>
    </dgm:pt>
  </dgm:ptLst>
  <dgm:cxnLst>
    <dgm:cxn modelId="{DF187720-01C5-D742-91BB-2BC82C5097E8}" type="presOf" srcId="{EAB02B7D-D298-1848-B31B-EB7BA599B7FD}" destId="{6403A277-8D69-C14B-969F-11AB776DBAE1}" srcOrd="0" destOrd="0" presId="urn:microsoft.com/office/officeart/2024/layout/BulletTimelineInverted"/>
    <dgm:cxn modelId="{C5C47C29-73E1-2843-846B-8E2847C83D47}" type="presOf" srcId="{1430CB74-6701-FE4C-8C42-630C7BC19A44}" destId="{F92CE055-81E5-3A4C-8DEF-2EF2E3ECFE8D}" srcOrd="0" destOrd="0" presId="urn:microsoft.com/office/officeart/2024/layout/BulletTimelineInverted"/>
    <dgm:cxn modelId="{B75CA329-6D31-3946-849E-F2C4A8D15A9F}" srcId="{20CC7D0C-36CF-AC44-80AE-B88A8B49D3A2}" destId="{9F5B61AB-C3D3-D24A-AAE2-2CD327A3AE79}" srcOrd="4" destOrd="0" parTransId="{093C4377-81FE-B54B-834E-631671257C1B}" sibTransId="{D4DD6089-70D3-FF42-98AB-B6132C870765}"/>
    <dgm:cxn modelId="{3D6BC82A-A229-B74C-B3FB-FF864DEB46AB}" srcId="{B658C946-746E-624A-8450-1EB98D9BCF56}" destId="{347CA8A2-8C17-7241-A298-D570E141F13D}" srcOrd="0" destOrd="0" parTransId="{1C86A8F8-B8CB-1046-A97F-7B66AB1AC85B}" sibTransId="{C44CE05E-4B28-EB4A-955C-0C131BB9A96F}"/>
    <dgm:cxn modelId="{1DDA182B-0409-5542-AE0A-471B63D5A1EB}" type="presOf" srcId="{E36D493A-4D9B-7344-80EC-FB5F8AE21FB7}" destId="{5165A7C7-DB3C-3F4F-A4C9-221FD70004B1}" srcOrd="0" destOrd="0" presId="urn:microsoft.com/office/officeart/2024/layout/BulletTimelineInverted"/>
    <dgm:cxn modelId="{25C1A730-FBCC-5A46-A6C2-BA8408D4A43B}" srcId="{82D4A898-9CAA-B149-B2BB-A730A647CA8E}" destId="{B658C946-746E-624A-8450-1EB98D9BCF56}" srcOrd="0" destOrd="0" parTransId="{37E1DFB6-CA86-F34E-9FBF-BAAE913E88C7}" sibTransId="{DA476B9B-5865-6042-B38E-BC4137D4B6AA}"/>
    <dgm:cxn modelId="{CF25B633-5ABE-5B4E-9E40-4F39155F80CB}" type="presOf" srcId="{B658C946-746E-624A-8450-1EB98D9BCF56}" destId="{32648804-1460-9544-BF08-180F4E85563E}" srcOrd="0" destOrd="0" presId="urn:microsoft.com/office/officeart/2024/layout/BulletTimelineInverted"/>
    <dgm:cxn modelId="{88B7BF34-ACA4-054F-B25E-C1CA735BDDA5}" type="presOf" srcId="{7E5EAB39-1E6A-F343-A46D-1AE3DBCC1859}" destId="{7587BAC8-60D1-2C4A-B965-6E92034D8560}" srcOrd="0" destOrd="0" presId="urn:microsoft.com/office/officeart/2024/layout/BulletTimelineInverted"/>
    <dgm:cxn modelId="{915EC334-AED6-914A-BDC0-EF411EF53339}" srcId="{20CC7D0C-36CF-AC44-80AE-B88A8B49D3A2}" destId="{16AF69E8-EE51-644C-9572-8722DDC69D40}" srcOrd="3" destOrd="0" parTransId="{1C0DDC79-D5D4-8C4B-A920-EDFFA181D32F}" sibTransId="{B5F919A2-A6BD-C644-B9A9-66B7EEEFB875}"/>
    <dgm:cxn modelId="{85073A3B-9B98-3C4C-90BE-4A56DC1AE9D3}" type="presOf" srcId="{0B76E85D-4995-7445-A242-A4889E688D70}" destId="{C1718CDE-F63D-084B-9A5F-9BF0A0879C7F}" srcOrd="0" destOrd="0" presId="urn:microsoft.com/office/officeart/2024/layout/BulletTimelineInverted"/>
    <dgm:cxn modelId="{253D5C49-714F-634D-BEB9-A7CCA5FA917D}" srcId="{20CC7D0C-36CF-AC44-80AE-B88A8B49D3A2}" destId="{EAB02B7D-D298-1848-B31B-EB7BA599B7FD}" srcOrd="1" destOrd="0" parTransId="{D960491F-A3B9-674C-9014-14026908175D}" sibTransId="{B969CA3E-18E5-E249-8FA3-76F0BCA970FF}"/>
    <dgm:cxn modelId="{647E9249-1258-B242-9FE2-22A0BF4660BD}" srcId="{B658C946-746E-624A-8450-1EB98D9BCF56}" destId="{A2BC832A-C050-614F-9907-89F6D9C7ED61}" srcOrd="1" destOrd="0" parTransId="{670178F3-BC97-2B43-9230-B32E6751E349}" sibTransId="{27DA6F4D-9272-F84F-9209-CFA7F7C563EA}"/>
    <dgm:cxn modelId="{D1D1D74B-50E6-C845-A1D2-C7837C5F45A9}" type="presOf" srcId="{16AF69E8-EE51-644C-9572-8722DDC69D40}" destId="{D83E6DF7-8379-494D-A8C8-97781C166482}" srcOrd="0" destOrd="0" presId="urn:microsoft.com/office/officeart/2024/layout/BulletTimelineInverted"/>
    <dgm:cxn modelId="{C603AC4C-AC35-6443-91FC-B7D7D38E0C9B}" srcId="{FFF7FD2B-103E-DE43-A779-AF6EF57C72F5}" destId="{E36D493A-4D9B-7344-80EC-FB5F8AE21FB7}" srcOrd="0" destOrd="0" parTransId="{F1B65C9D-003B-6747-A8AA-9FFC4351EB97}" sibTransId="{38F011F1-6B6B-BC46-9756-E37ACFE983AC}"/>
    <dgm:cxn modelId="{CE60AF52-A0A2-3044-A364-4878235FFDB0}" type="presOf" srcId="{9F5B61AB-C3D3-D24A-AAE2-2CD327A3AE79}" destId="{645EC21B-D860-F34E-8EBE-34E4D5770B33}" srcOrd="0" destOrd="0" presId="urn:microsoft.com/office/officeart/2024/layout/BulletTimelineInverted"/>
    <dgm:cxn modelId="{FF156B58-EFD7-0248-A73B-76C65125B3F9}" srcId="{16AF69E8-EE51-644C-9572-8722DDC69D40}" destId="{EB4E3E2D-0779-9441-9937-05B5474EC857}" srcOrd="0" destOrd="0" parTransId="{B490C7EE-CD48-A547-9C93-EAB4386395F7}" sibTransId="{1E52E8D7-C87B-FB42-9708-E04718AD7245}"/>
    <dgm:cxn modelId="{94409C59-C958-3E47-9952-67B7D78B5C35}" srcId="{20CC7D0C-36CF-AC44-80AE-B88A8B49D3A2}" destId="{82D4A898-9CAA-B149-B2BB-A730A647CA8E}" srcOrd="6" destOrd="0" parTransId="{4F6B7870-5F45-1A47-B782-1A4F2645247B}" sibTransId="{CE4D49C1-118C-6D49-B8AD-3C06F8399E12}"/>
    <dgm:cxn modelId="{21C9FA5D-67BA-AE40-92E9-5C41426811A7}" type="presOf" srcId="{FFF7FD2B-103E-DE43-A779-AF6EF57C72F5}" destId="{3DC20D57-9C6B-4740-93D8-DBF0745B09EC}" srcOrd="0" destOrd="0" presId="urn:microsoft.com/office/officeart/2024/layout/BulletTimelineInverted"/>
    <dgm:cxn modelId="{B8D90965-060F-9143-8A5F-4A1F61B4F2B4}" type="presOf" srcId="{A2BC832A-C050-614F-9907-89F6D9C7ED61}" destId="{32648804-1460-9544-BF08-180F4E85563E}" srcOrd="0" destOrd="2" presId="urn:microsoft.com/office/officeart/2024/layout/BulletTimelineInverted"/>
    <dgm:cxn modelId="{29E44B72-B209-A94E-B30E-E4553C387719}" type="presOf" srcId="{C197AF01-E852-C94D-B600-D7315894FE0F}" destId="{447C8757-6FC0-3443-B841-3D7E5077C9A9}" srcOrd="0" destOrd="0" presId="urn:microsoft.com/office/officeart/2024/layout/BulletTimelineInverted"/>
    <dgm:cxn modelId="{EDB50E8C-8445-C34B-BE1C-332A0649EAE9}" srcId="{EAB02B7D-D298-1848-B31B-EB7BA599B7FD}" destId="{C00CDEC4-DC2A-FA49-B84D-6EE7195FE674}" srcOrd="0" destOrd="0" parTransId="{F7D888A1-CF70-A842-9A7E-4CC94FA0B139}" sibTransId="{040838F8-172B-CB49-BE2E-E7DC4D0C6440}"/>
    <dgm:cxn modelId="{45563F8D-1201-CB4F-B6A7-882F35FEBBF9}" type="presOf" srcId="{C00CDEC4-DC2A-FA49-B84D-6EE7195FE674}" destId="{AC152AB3-329E-FC4D-A41C-1C34DCFC912C}" srcOrd="0" destOrd="0" presId="urn:microsoft.com/office/officeart/2024/layout/BulletTimelineInverted"/>
    <dgm:cxn modelId="{0327E09B-6829-3443-AA52-5D24E35DF0ED}" type="presOf" srcId="{82D4A898-9CAA-B149-B2BB-A730A647CA8E}" destId="{131792EB-4F35-6A4C-8ED9-49470C759502}" srcOrd="0" destOrd="0" presId="urn:microsoft.com/office/officeart/2024/layout/BulletTimelineInverted"/>
    <dgm:cxn modelId="{3D43809E-A78E-A94C-B662-7C554BE82F20}" srcId="{7E5EAB39-1E6A-F343-A46D-1AE3DBCC1859}" destId="{C197AF01-E852-C94D-B600-D7315894FE0F}" srcOrd="0" destOrd="0" parTransId="{43422022-3277-A541-9F86-AA14FC61BF8E}" sibTransId="{3EB39560-CC6D-1145-8FC4-0FA84E9224AB}"/>
    <dgm:cxn modelId="{EC24E2A1-03CA-0546-B84F-5B13A89D3276}" type="presOf" srcId="{20CC7D0C-36CF-AC44-80AE-B88A8B49D3A2}" destId="{E669F94F-7878-924C-AA61-42C4961033B3}" srcOrd="0" destOrd="0" presId="urn:microsoft.com/office/officeart/2024/layout/BulletTimelineInverted"/>
    <dgm:cxn modelId="{9BBA5BAC-A1BE-E942-8E37-E7AB75B186EE}" srcId="{1430CB74-6701-FE4C-8C42-630C7BC19A44}" destId="{0B76E85D-4995-7445-A242-A4889E688D70}" srcOrd="0" destOrd="0" parTransId="{E96B2378-50CC-FD4C-B75D-58F801E85DB7}" sibTransId="{81A6B845-29F4-5442-A250-964F53F5CA2D}"/>
    <dgm:cxn modelId="{2C2B91C8-38C7-5F41-BFC8-DD9996B0BA92}" type="presOf" srcId="{C9E0AED0-03D4-0342-8543-9759A1CEF1C5}" destId="{9A12C38C-A503-8147-AE12-4D4CAEC77596}" srcOrd="0" destOrd="0" presId="urn:microsoft.com/office/officeart/2024/layout/BulletTimelineInverted"/>
    <dgm:cxn modelId="{9B0D2BCE-A898-3B46-9DEC-B8FCB634120E}" srcId="{20CC7D0C-36CF-AC44-80AE-B88A8B49D3A2}" destId="{7E5EAB39-1E6A-F343-A46D-1AE3DBCC1859}" srcOrd="5" destOrd="0" parTransId="{179E79B5-67F2-284D-A913-441FDBF8CBB1}" sibTransId="{89FFCE5F-737D-424F-9655-40503A09EF38}"/>
    <dgm:cxn modelId="{D197DDCE-94BA-9F48-87E7-EAA34E85AF6C}" srcId="{20CC7D0C-36CF-AC44-80AE-B88A8B49D3A2}" destId="{FFF7FD2B-103E-DE43-A779-AF6EF57C72F5}" srcOrd="0" destOrd="0" parTransId="{0A8B07EA-DE23-5F42-BDFE-965309A30CA9}" sibTransId="{1DC36113-55BA-5E4A-A59A-77ABEF57655A}"/>
    <dgm:cxn modelId="{A26CEBD2-7297-8247-AD77-FB12C22D18C4}" type="presOf" srcId="{347CA8A2-8C17-7241-A298-D570E141F13D}" destId="{32648804-1460-9544-BF08-180F4E85563E}" srcOrd="0" destOrd="1" presId="urn:microsoft.com/office/officeart/2024/layout/BulletTimelineInverted"/>
    <dgm:cxn modelId="{AC7527D5-9AAD-FF4A-AA9C-9894F1C79F62}" type="presOf" srcId="{EB4E3E2D-0779-9441-9937-05B5474EC857}" destId="{9C3D1FFF-B1B7-1D44-98D1-F0EAE0993E3D}" srcOrd="0" destOrd="0" presId="urn:microsoft.com/office/officeart/2024/layout/BulletTimelineInverted"/>
    <dgm:cxn modelId="{DBAB0BE6-4F6D-BD4B-BA97-8FE43120BFC9}" srcId="{9F5B61AB-C3D3-D24A-AAE2-2CD327A3AE79}" destId="{C9E0AED0-03D4-0342-8543-9759A1CEF1C5}" srcOrd="0" destOrd="0" parTransId="{8193FF42-9D45-BE47-A38C-9DAAF9DD56BA}" sibTransId="{BC2FA3F4-F94E-684D-BC34-CA9ED516B7CD}"/>
    <dgm:cxn modelId="{A15AC9EC-2C6C-0840-8764-33EB958C4ED8}" srcId="{20CC7D0C-36CF-AC44-80AE-B88A8B49D3A2}" destId="{1430CB74-6701-FE4C-8C42-630C7BC19A44}" srcOrd="2" destOrd="0" parTransId="{2455CB09-75BF-3847-88B2-CBADAC452D26}" sibTransId="{16377DCF-B128-4A4D-8A56-3E1D96876F22}"/>
    <dgm:cxn modelId="{984F084A-1AC4-9F40-9EBC-FCB40E814B61}" type="presParOf" srcId="{E669F94F-7878-924C-AA61-42C4961033B3}" destId="{11D5533B-91C4-EE44-97FD-7C7682E466A2}" srcOrd="0" destOrd="0" presId="urn:microsoft.com/office/officeart/2024/layout/BulletTimelineInverted"/>
    <dgm:cxn modelId="{D96D0E68-F52C-D145-97A3-CEA99DC4528C}" type="presParOf" srcId="{11D5533B-91C4-EE44-97FD-7C7682E466A2}" destId="{DE906657-A153-C448-B837-8FE09150A9B3}" srcOrd="0" destOrd="0" presId="urn:microsoft.com/office/officeart/2024/layout/BulletTimelineInverted"/>
    <dgm:cxn modelId="{BAB040D6-9B6C-5946-BFE6-C0F52EB9F75C}" type="presParOf" srcId="{11D5533B-91C4-EE44-97FD-7C7682E466A2}" destId="{5D23A7F2-ECCF-F34C-829A-BC13E8D6D6E2}" srcOrd="1" destOrd="0" presId="urn:microsoft.com/office/officeart/2024/layout/BulletTimelineInverted"/>
    <dgm:cxn modelId="{242D621C-C7DA-774A-9708-7598A8CD5966}" type="presParOf" srcId="{E669F94F-7878-924C-AA61-42C4961033B3}" destId="{AB377ABA-5323-784D-BD59-94F972B5B058}" srcOrd="1" destOrd="0" presId="urn:microsoft.com/office/officeart/2024/layout/BulletTimelineInverted"/>
    <dgm:cxn modelId="{8BB6FACA-EF89-A14C-ADDD-1C287AABB92A}" type="presParOf" srcId="{AB377ABA-5323-784D-BD59-94F972B5B058}" destId="{3E2C2881-6AF4-724D-AE82-1ABF439B3CDE}" srcOrd="0" destOrd="0" presId="urn:microsoft.com/office/officeart/2024/layout/BulletTimelineInverted"/>
    <dgm:cxn modelId="{64008195-E43D-E04A-8FF1-2F140A507A12}" type="presParOf" srcId="{3E2C2881-6AF4-724D-AE82-1ABF439B3CDE}" destId="{9CEC24B6-C89D-E942-8D9A-73349B55C755}" srcOrd="0" destOrd="0" presId="urn:microsoft.com/office/officeart/2024/layout/BulletTimelineInverted"/>
    <dgm:cxn modelId="{60D10D26-45CF-4D4F-BA21-435B6835C2E0}" type="presParOf" srcId="{9CEC24B6-C89D-E942-8D9A-73349B55C755}" destId="{96673B83-4658-D740-91FB-52B6FF72A50A}" srcOrd="0" destOrd="0" presId="urn:microsoft.com/office/officeart/2024/layout/BulletTimelineInverted"/>
    <dgm:cxn modelId="{BF061DAF-189E-874A-A35A-979743ADB6AE}" type="presParOf" srcId="{9CEC24B6-C89D-E942-8D9A-73349B55C755}" destId="{459D9E9B-ACD2-2C4F-9CE0-0979E8C372F5}" srcOrd="1" destOrd="0" presId="urn:microsoft.com/office/officeart/2024/layout/BulletTimelineInverted"/>
    <dgm:cxn modelId="{F400EFFF-97C1-5A43-9E14-65077D25E604}" type="presParOf" srcId="{3E2C2881-6AF4-724D-AE82-1ABF439B3CDE}" destId="{5165A7C7-DB3C-3F4F-A4C9-221FD70004B1}" srcOrd="1" destOrd="0" presId="urn:microsoft.com/office/officeart/2024/layout/BulletTimelineInverted"/>
    <dgm:cxn modelId="{E63287F4-07D2-5744-A706-DBB4990DD62C}" type="presParOf" srcId="{3E2C2881-6AF4-724D-AE82-1ABF439B3CDE}" destId="{3DC20D57-9C6B-4740-93D8-DBF0745B09EC}" srcOrd="2" destOrd="0" presId="urn:microsoft.com/office/officeart/2024/layout/BulletTimelineInverted"/>
    <dgm:cxn modelId="{DE1427A6-707F-9C4F-A4E8-24E79008AA13}" type="presParOf" srcId="{3E2C2881-6AF4-724D-AE82-1ABF439B3CDE}" destId="{1506A386-146A-2D43-9AFE-FF58A8BBF56C}" srcOrd="3" destOrd="0" presId="urn:microsoft.com/office/officeart/2024/layout/BulletTimelineInverted"/>
    <dgm:cxn modelId="{9C0A3019-B2CA-0D42-8596-1EAC2AC7DA8F}" type="presParOf" srcId="{3E2C2881-6AF4-724D-AE82-1ABF439B3CDE}" destId="{476AB14B-E630-164C-BD9E-7204930390A7}" srcOrd="4" destOrd="0" presId="urn:microsoft.com/office/officeart/2024/layout/BulletTimelineInverted"/>
    <dgm:cxn modelId="{7CAF04A1-EC92-6940-8E1E-B6344C9479B7}" type="presParOf" srcId="{476AB14B-E630-164C-BD9E-7204930390A7}" destId="{6B18A7B6-FC70-5649-B1CA-FB73E5C65EC7}" srcOrd="0" destOrd="0" presId="urn:microsoft.com/office/officeart/2024/layout/BulletTimelineInverted"/>
    <dgm:cxn modelId="{153D5ACC-5749-1440-A345-DAB37A98F9E8}" type="presParOf" srcId="{3E2C2881-6AF4-724D-AE82-1ABF439B3CDE}" destId="{1FC9D310-20AC-C94B-885D-D028F974E6D3}" srcOrd="5" destOrd="0" presId="urn:microsoft.com/office/officeart/2024/layout/BulletTimelineInverted"/>
    <dgm:cxn modelId="{A6F924CF-4C4E-C441-9CC5-5DF7FD7C5784}" type="presParOf" srcId="{AB377ABA-5323-784D-BD59-94F972B5B058}" destId="{BE07445B-908C-1146-815F-349380725386}" srcOrd="1" destOrd="0" presId="urn:microsoft.com/office/officeart/2024/layout/BulletTimelineInverted"/>
    <dgm:cxn modelId="{EEF7B672-632B-4347-B48D-0A1A18B801F2}" type="presParOf" srcId="{AB377ABA-5323-784D-BD59-94F972B5B058}" destId="{2D568DA9-67B5-9241-A43F-E7354E2EB4CD}" srcOrd="2" destOrd="0" presId="urn:microsoft.com/office/officeart/2024/layout/BulletTimelineInverted"/>
    <dgm:cxn modelId="{C07A006B-811D-734D-B10A-6F42817E11E3}" type="presParOf" srcId="{2D568DA9-67B5-9241-A43F-E7354E2EB4CD}" destId="{77666E88-9ECE-FF4C-B0B3-F64254978CD6}" srcOrd="0" destOrd="0" presId="urn:microsoft.com/office/officeart/2024/layout/BulletTimelineInverted"/>
    <dgm:cxn modelId="{7A52FAC2-D821-EB4B-B5EF-A5A5B1D05237}" type="presParOf" srcId="{77666E88-9ECE-FF4C-B0B3-F64254978CD6}" destId="{3C747464-5E4D-CD4F-ABE0-55D9EF8ED0EA}" srcOrd="0" destOrd="0" presId="urn:microsoft.com/office/officeart/2024/layout/BulletTimelineInverted"/>
    <dgm:cxn modelId="{96792C25-AE76-0649-9234-8EBE9683AD58}" type="presParOf" srcId="{77666E88-9ECE-FF4C-B0B3-F64254978CD6}" destId="{2A2708EA-37D7-124A-888A-394D6FE52494}" srcOrd="1" destOrd="0" presId="urn:microsoft.com/office/officeart/2024/layout/BulletTimelineInverted"/>
    <dgm:cxn modelId="{EAE94717-7B5F-614F-9F5B-0981E9279DA7}" type="presParOf" srcId="{2D568DA9-67B5-9241-A43F-E7354E2EB4CD}" destId="{AC152AB3-329E-FC4D-A41C-1C34DCFC912C}" srcOrd="1" destOrd="0" presId="urn:microsoft.com/office/officeart/2024/layout/BulletTimelineInverted"/>
    <dgm:cxn modelId="{1DAD336F-7336-D140-8B41-132BE78FCCDC}" type="presParOf" srcId="{2D568DA9-67B5-9241-A43F-E7354E2EB4CD}" destId="{6403A277-8D69-C14B-969F-11AB776DBAE1}" srcOrd="2" destOrd="0" presId="urn:microsoft.com/office/officeart/2024/layout/BulletTimelineInverted"/>
    <dgm:cxn modelId="{E025EFDB-EF86-2742-980A-9E981A1A1582}" type="presParOf" srcId="{2D568DA9-67B5-9241-A43F-E7354E2EB4CD}" destId="{24AEA3E3-4CA4-8F4E-9FF1-34A2AF97C2C9}" srcOrd="3" destOrd="0" presId="urn:microsoft.com/office/officeart/2024/layout/BulletTimelineInverted"/>
    <dgm:cxn modelId="{592C5F0E-1FA8-5B45-B1B6-3603C04AEF3F}" type="presParOf" srcId="{2D568DA9-67B5-9241-A43F-E7354E2EB4CD}" destId="{757BCFE4-185C-FA47-8FDB-F999EF1F3465}" srcOrd="4" destOrd="0" presId="urn:microsoft.com/office/officeart/2024/layout/BulletTimelineInverted"/>
    <dgm:cxn modelId="{41C6B04C-74CF-8344-AC49-3B3ADD044C83}" type="presParOf" srcId="{757BCFE4-185C-FA47-8FDB-F999EF1F3465}" destId="{99669736-ED08-7446-8D5E-236FA36E84D0}" srcOrd="0" destOrd="0" presId="urn:microsoft.com/office/officeart/2024/layout/BulletTimelineInverted"/>
    <dgm:cxn modelId="{E9DEE682-82A7-584E-8B80-7A6964CDE658}" type="presParOf" srcId="{2D568DA9-67B5-9241-A43F-E7354E2EB4CD}" destId="{EEAA3423-8887-1941-AB61-37F1E098611E}" srcOrd="5" destOrd="0" presId="urn:microsoft.com/office/officeart/2024/layout/BulletTimelineInverted"/>
    <dgm:cxn modelId="{40600FE7-E99C-F94B-84E9-6D4CDB5854D5}" type="presParOf" srcId="{AB377ABA-5323-784D-BD59-94F972B5B058}" destId="{FFCACF7D-368F-F942-AECA-6C14ED25FA39}" srcOrd="3" destOrd="0" presId="urn:microsoft.com/office/officeart/2024/layout/BulletTimelineInverted"/>
    <dgm:cxn modelId="{58283CD6-C33B-234E-A870-C657E011F644}" type="presParOf" srcId="{AB377ABA-5323-784D-BD59-94F972B5B058}" destId="{BA4043FB-AB7B-4A4B-8EFB-59A7BB160646}" srcOrd="4" destOrd="0" presId="urn:microsoft.com/office/officeart/2024/layout/BulletTimelineInverted"/>
    <dgm:cxn modelId="{F2A26F0C-F1A2-064E-B08D-685ACF1DF4CB}" type="presParOf" srcId="{BA4043FB-AB7B-4A4B-8EFB-59A7BB160646}" destId="{F27E4581-0F38-D141-A199-1440CCE71E9C}" srcOrd="0" destOrd="0" presId="urn:microsoft.com/office/officeart/2024/layout/BulletTimelineInverted"/>
    <dgm:cxn modelId="{D250A7CE-4025-7346-9280-8A6D271C5949}" type="presParOf" srcId="{F27E4581-0F38-D141-A199-1440CCE71E9C}" destId="{036AAC0F-7B4F-7543-9A40-2E694B011213}" srcOrd="0" destOrd="0" presId="urn:microsoft.com/office/officeart/2024/layout/BulletTimelineInverted"/>
    <dgm:cxn modelId="{ECDFB6E5-D895-C04F-A8D5-A8FD35EAF9F5}" type="presParOf" srcId="{F27E4581-0F38-D141-A199-1440CCE71E9C}" destId="{D1099B03-DD1B-7F43-A2A1-DE9BA9F29F45}" srcOrd="1" destOrd="0" presId="urn:microsoft.com/office/officeart/2024/layout/BulletTimelineInverted"/>
    <dgm:cxn modelId="{17B918E0-8FA8-6E4F-8F80-B0590FA1FF7D}" type="presParOf" srcId="{BA4043FB-AB7B-4A4B-8EFB-59A7BB160646}" destId="{C1718CDE-F63D-084B-9A5F-9BF0A0879C7F}" srcOrd="1" destOrd="0" presId="urn:microsoft.com/office/officeart/2024/layout/BulletTimelineInverted"/>
    <dgm:cxn modelId="{93F7ED24-C254-8B40-9535-5BE541E1DB0D}" type="presParOf" srcId="{BA4043FB-AB7B-4A4B-8EFB-59A7BB160646}" destId="{F92CE055-81E5-3A4C-8DEF-2EF2E3ECFE8D}" srcOrd="2" destOrd="0" presId="urn:microsoft.com/office/officeart/2024/layout/BulletTimelineInverted"/>
    <dgm:cxn modelId="{1A9016EE-7782-4E4A-B425-A789F261C176}" type="presParOf" srcId="{BA4043FB-AB7B-4A4B-8EFB-59A7BB160646}" destId="{84496AD9-8CE1-624F-BD69-17BA1D1C43FD}" srcOrd="3" destOrd="0" presId="urn:microsoft.com/office/officeart/2024/layout/BulletTimelineInverted"/>
    <dgm:cxn modelId="{26636481-F71D-2A4D-9973-CC34228E86A3}" type="presParOf" srcId="{BA4043FB-AB7B-4A4B-8EFB-59A7BB160646}" destId="{B51889E0-241F-9A43-A890-E37BC7F18FD1}" srcOrd="4" destOrd="0" presId="urn:microsoft.com/office/officeart/2024/layout/BulletTimelineInverted"/>
    <dgm:cxn modelId="{D51A8912-B842-3E4B-95F7-914F0AD1CECF}" type="presParOf" srcId="{B51889E0-241F-9A43-A890-E37BC7F18FD1}" destId="{395D53D9-ED55-974A-8449-349A35C0EA0B}" srcOrd="0" destOrd="0" presId="urn:microsoft.com/office/officeart/2024/layout/BulletTimelineInverted"/>
    <dgm:cxn modelId="{C18566E9-0DD1-BA43-8E4B-6F495915FE61}" type="presParOf" srcId="{BA4043FB-AB7B-4A4B-8EFB-59A7BB160646}" destId="{44BF6F24-B4A2-B24A-B633-0A886B63139A}" srcOrd="5" destOrd="0" presId="urn:microsoft.com/office/officeart/2024/layout/BulletTimelineInverted"/>
    <dgm:cxn modelId="{F9336B5B-4072-7D40-B725-A6EE790B232A}" type="presParOf" srcId="{AB377ABA-5323-784D-BD59-94F972B5B058}" destId="{A22443C6-7EE1-9A47-9B49-5271350271DB}" srcOrd="5" destOrd="0" presId="urn:microsoft.com/office/officeart/2024/layout/BulletTimelineInverted"/>
    <dgm:cxn modelId="{5AAEA38A-70E2-CA47-92C6-09DDAF833E9F}" type="presParOf" srcId="{AB377ABA-5323-784D-BD59-94F972B5B058}" destId="{89C3357C-783B-0E4B-8CCE-40848E7559FC}" srcOrd="6" destOrd="0" presId="urn:microsoft.com/office/officeart/2024/layout/BulletTimelineInverted"/>
    <dgm:cxn modelId="{0531FF07-85FE-AF4B-9545-A832542C0225}" type="presParOf" srcId="{89C3357C-783B-0E4B-8CCE-40848E7559FC}" destId="{5CA061DA-B1AF-2F40-91AA-4762B065EF09}" srcOrd="0" destOrd="0" presId="urn:microsoft.com/office/officeart/2024/layout/BulletTimelineInverted"/>
    <dgm:cxn modelId="{4A92FE97-71FC-924D-89D7-78280FAC4215}" type="presParOf" srcId="{5CA061DA-B1AF-2F40-91AA-4762B065EF09}" destId="{68C73E26-0EE9-3C4F-B929-FDB2C0DEEA7C}" srcOrd="0" destOrd="0" presId="urn:microsoft.com/office/officeart/2024/layout/BulletTimelineInverted"/>
    <dgm:cxn modelId="{05FEC05C-6754-0A4B-984D-C4C0AC5845FF}" type="presParOf" srcId="{5CA061DA-B1AF-2F40-91AA-4762B065EF09}" destId="{803C36A2-1050-BF42-BE97-4F76F62711A6}" srcOrd="1" destOrd="0" presId="urn:microsoft.com/office/officeart/2024/layout/BulletTimelineInverted"/>
    <dgm:cxn modelId="{34A481FC-B9E2-3A42-BABF-6953BAFB0E06}" type="presParOf" srcId="{89C3357C-783B-0E4B-8CCE-40848E7559FC}" destId="{9C3D1FFF-B1B7-1D44-98D1-F0EAE0993E3D}" srcOrd="1" destOrd="0" presId="urn:microsoft.com/office/officeart/2024/layout/BulletTimelineInverted"/>
    <dgm:cxn modelId="{0A31804C-EC22-2841-8E41-C84DBBA2DB6F}" type="presParOf" srcId="{89C3357C-783B-0E4B-8CCE-40848E7559FC}" destId="{D83E6DF7-8379-494D-A8C8-97781C166482}" srcOrd="2" destOrd="0" presId="urn:microsoft.com/office/officeart/2024/layout/BulletTimelineInverted"/>
    <dgm:cxn modelId="{862DD8E6-775D-F24C-B168-ACD3A8C3F26A}" type="presParOf" srcId="{89C3357C-783B-0E4B-8CCE-40848E7559FC}" destId="{08FF3C0B-F88F-344B-831B-20896348F0F4}" srcOrd="3" destOrd="0" presId="urn:microsoft.com/office/officeart/2024/layout/BulletTimelineInverted"/>
    <dgm:cxn modelId="{A47F316A-A12B-CA47-8519-90BFB303A102}" type="presParOf" srcId="{89C3357C-783B-0E4B-8CCE-40848E7559FC}" destId="{ED3236DF-7558-B341-A7C8-7211D532F9AB}" srcOrd="4" destOrd="0" presId="urn:microsoft.com/office/officeart/2024/layout/BulletTimelineInverted"/>
    <dgm:cxn modelId="{745E8717-B907-BE46-9688-D20F0C2F2662}" type="presParOf" srcId="{ED3236DF-7558-B341-A7C8-7211D532F9AB}" destId="{5C2F6C80-48A2-EF46-8466-4A293D969951}" srcOrd="0" destOrd="0" presId="urn:microsoft.com/office/officeart/2024/layout/BulletTimelineInverted"/>
    <dgm:cxn modelId="{E2BEABFD-5E3C-0449-932F-8246899FEBE5}" type="presParOf" srcId="{89C3357C-783B-0E4B-8CCE-40848E7559FC}" destId="{524D34EB-C322-ED42-ACD3-D7DF5CFB2EB8}" srcOrd="5" destOrd="0" presId="urn:microsoft.com/office/officeart/2024/layout/BulletTimelineInverted"/>
    <dgm:cxn modelId="{BF8CC003-2AB0-E746-92EC-AA03D0A88367}" type="presParOf" srcId="{AB377ABA-5323-784D-BD59-94F972B5B058}" destId="{041C4FF7-287B-D348-A2E2-2F15F960935E}" srcOrd="7" destOrd="0" presId="urn:microsoft.com/office/officeart/2024/layout/BulletTimelineInverted"/>
    <dgm:cxn modelId="{B98AE67C-F31D-9F4B-B4BE-62526567DE14}" type="presParOf" srcId="{AB377ABA-5323-784D-BD59-94F972B5B058}" destId="{7A09BAFE-9F17-3E45-A3CD-99EDB36966BD}" srcOrd="8" destOrd="0" presId="urn:microsoft.com/office/officeart/2024/layout/BulletTimelineInverted"/>
    <dgm:cxn modelId="{99EA5C45-02F1-5E44-BDC7-CBD5C654D3FD}" type="presParOf" srcId="{7A09BAFE-9F17-3E45-A3CD-99EDB36966BD}" destId="{44C3B9A2-DE1A-9341-823F-B1085F66089D}" srcOrd="0" destOrd="0" presId="urn:microsoft.com/office/officeart/2024/layout/BulletTimelineInverted"/>
    <dgm:cxn modelId="{C17C4C11-CADB-614B-90F7-29C9E36003A9}" type="presParOf" srcId="{44C3B9A2-DE1A-9341-823F-B1085F66089D}" destId="{E76705C5-D8C7-8446-895F-596A05C4F6A7}" srcOrd="0" destOrd="0" presId="urn:microsoft.com/office/officeart/2024/layout/BulletTimelineInverted"/>
    <dgm:cxn modelId="{F03E2738-9ADD-F743-8F94-67D0FF1CE519}" type="presParOf" srcId="{44C3B9A2-DE1A-9341-823F-B1085F66089D}" destId="{7B9ED2D8-12AC-9C4C-86C6-AC11F3094DC1}" srcOrd="1" destOrd="0" presId="urn:microsoft.com/office/officeart/2024/layout/BulletTimelineInverted"/>
    <dgm:cxn modelId="{85B35499-4908-8D4F-A218-904FF2829F91}" type="presParOf" srcId="{7A09BAFE-9F17-3E45-A3CD-99EDB36966BD}" destId="{9A12C38C-A503-8147-AE12-4D4CAEC77596}" srcOrd="1" destOrd="0" presId="urn:microsoft.com/office/officeart/2024/layout/BulletTimelineInverted"/>
    <dgm:cxn modelId="{D525CBB2-B41F-F946-AC7F-473E05D0D75C}" type="presParOf" srcId="{7A09BAFE-9F17-3E45-A3CD-99EDB36966BD}" destId="{645EC21B-D860-F34E-8EBE-34E4D5770B33}" srcOrd="2" destOrd="0" presId="urn:microsoft.com/office/officeart/2024/layout/BulletTimelineInverted"/>
    <dgm:cxn modelId="{9025581D-F73F-C74A-82BE-FC74E5513BED}" type="presParOf" srcId="{7A09BAFE-9F17-3E45-A3CD-99EDB36966BD}" destId="{D6E4D181-4302-5348-87CF-5ACB0D6A9B31}" srcOrd="3" destOrd="0" presId="urn:microsoft.com/office/officeart/2024/layout/BulletTimelineInverted"/>
    <dgm:cxn modelId="{55DD6989-1877-F84A-82B0-15078DC0CA9E}" type="presParOf" srcId="{7A09BAFE-9F17-3E45-A3CD-99EDB36966BD}" destId="{CFA2B4BB-6491-5E49-A22D-2008FF65EC42}" srcOrd="4" destOrd="0" presId="urn:microsoft.com/office/officeart/2024/layout/BulletTimelineInverted"/>
    <dgm:cxn modelId="{41E958C9-D055-624C-9F90-8F4C918E939A}" type="presParOf" srcId="{CFA2B4BB-6491-5E49-A22D-2008FF65EC42}" destId="{9278DF18-8917-6947-A990-F14671223ED8}" srcOrd="0" destOrd="0" presId="urn:microsoft.com/office/officeart/2024/layout/BulletTimelineInverted"/>
    <dgm:cxn modelId="{0E4565CE-5BE3-A544-8002-AB8D845FA83F}" type="presParOf" srcId="{7A09BAFE-9F17-3E45-A3CD-99EDB36966BD}" destId="{0E69F669-000C-5C49-84B8-B00F41C014AC}" srcOrd="5" destOrd="0" presId="urn:microsoft.com/office/officeart/2024/layout/BulletTimelineInverted"/>
    <dgm:cxn modelId="{13514775-5073-C442-AEE0-C309AC834715}" type="presParOf" srcId="{AB377ABA-5323-784D-BD59-94F972B5B058}" destId="{C9E6AB10-CE28-E24A-BE32-8B32D73D84FB}" srcOrd="9" destOrd="0" presId="urn:microsoft.com/office/officeart/2024/layout/BulletTimelineInverted"/>
    <dgm:cxn modelId="{772FCC9C-81A4-DE42-96BB-F7BB228FA3D9}" type="presParOf" srcId="{AB377ABA-5323-784D-BD59-94F972B5B058}" destId="{7BD58E12-BC3E-CA41-908D-EA5653126773}" srcOrd="10" destOrd="0" presId="urn:microsoft.com/office/officeart/2024/layout/BulletTimelineInverted"/>
    <dgm:cxn modelId="{D6C5FE2D-3F84-1548-8236-BFC5F957AB10}" type="presParOf" srcId="{7BD58E12-BC3E-CA41-908D-EA5653126773}" destId="{751F9EB4-4E40-D24E-86D5-7592BBCA2A8F}" srcOrd="0" destOrd="0" presId="urn:microsoft.com/office/officeart/2024/layout/BulletTimelineInverted"/>
    <dgm:cxn modelId="{B22189E9-B71A-4845-BBA3-EFE68503633B}" type="presParOf" srcId="{751F9EB4-4E40-D24E-86D5-7592BBCA2A8F}" destId="{26A262DA-3584-7C44-AE33-A7FBFB7C6DCB}" srcOrd="0" destOrd="0" presId="urn:microsoft.com/office/officeart/2024/layout/BulletTimelineInverted"/>
    <dgm:cxn modelId="{5A96FA67-9D09-FC49-A401-9AC1B2C766DC}" type="presParOf" srcId="{751F9EB4-4E40-D24E-86D5-7592BBCA2A8F}" destId="{A4665BD7-C388-F74F-BA7D-78224D5EA692}" srcOrd="1" destOrd="0" presId="urn:microsoft.com/office/officeart/2024/layout/BulletTimelineInverted"/>
    <dgm:cxn modelId="{0524EBAE-6C61-A04B-851C-902136523C98}" type="presParOf" srcId="{7BD58E12-BC3E-CA41-908D-EA5653126773}" destId="{447C8757-6FC0-3443-B841-3D7E5077C9A9}" srcOrd="1" destOrd="0" presId="urn:microsoft.com/office/officeart/2024/layout/BulletTimelineInverted"/>
    <dgm:cxn modelId="{D680EB0D-6AAF-5D44-85D3-FBE452EB4E25}" type="presParOf" srcId="{7BD58E12-BC3E-CA41-908D-EA5653126773}" destId="{7587BAC8-60D1-2C4A-B965-6E92034D8560}" srcOrd="2" destOrd="0" presId="urn:microsoft.com/office/officeart/2024/layout/BulletTimelineInverted"/>
    <dgm:cxn modelId="{5C5FA9DF-42EC-0746-AA8C-1E03C7FC2BB2}" type="presParOf" srcId="{7BD58E12-BC3E-CA41-908D-EA5653126773}" destId="{87E0C7FC-8705-AE42-B424-436DDAE67CE6}" srcOrd="3" destOrd="0" presId="urn:microsoft.com/office/officeart/2024/layout/BulletTimelineInverted"/>
    <dgm:cxn modelId="{B49AFE23-0DCD-C94A-911E-A01581191399}" type="presParOf" srcId="{7BD58E12-BC3E-CA41-908D-EA5653126773}" destId="{B454A72D-BE46-E749-AC40-FC61237BE875}" srcOrd="4" destOrd="0" presId="urn:microsoft.com/office/officeart/2024/layout/BulletTimelineInverted"/>
    <dgm:cxn modelId="{5325B26D-91DE-5C49-A59B-AFB4E92271E8}" type="presParOf" srcId="{B454A72D-BE46-E749-AC40-FC61237BE875}" destId="{4999F736-5F61-CE47-BEA7-4570355F1680}" srcOrd="0" destOrd="0" presId="urn:microsoft.com/office/officeart/2024/layout/BulletTimelineInverted"/>
    <dgm:cxn modelId="{2DCEB37D-D05E-5E42-896D-49322DE663EB}" type="presParOf" srcId="{7BD58E12-BC3E-CA41-908D-EA5653126773}" destId="{B074E092-4F77-114D-BD7B-67F84806D925}" srcOrd="5" destOrd="0" presId="urn:microsoft.com/office/officeart/2024/layout/BulletTimelineInverted"/>
    <dgm:cxn modelId="{814F4581-887D-E545-84EF-1F260C88403E}" type="presParOf" srcId="{AB377ABA-5323-784D-BD59-94F972B5B058}" destId="{8678AE49-6D19-D04D-8C2F-67E2BCEB0EC6}" srcOrd="11" destOrd="0" presId="urn:microsoft.com/office/officeart/2024/layout/BulletTimelineInverted"/>
    <dgm:cxn modelId="{151690E1-925A-8B49-8F16-8A147EFD30D0}" type="presParOf" srcId="{AB377ABA-5323-784D-BD59-94F972B5B058}" destId="{986C41A3-343D-C64E-810E-0DEFCD41B00A}" srcOrd="12" destOrd="0" presId="urn:microsoft.com/office/officeart/2024/layout/BulletTimelineInverted"/>
    <dgm:cxn modelId="{FB4480BA-A1BB-644D-9E50-0DD22637B84F}" type="presParOf" srcId="{986C41A3-343D-C64E-810E-0DEFCD41B00A}" destId="{6934829D-7E7F-B649-AFB5-17776416CF02}" srcOrd="0" destOrd="0" presId="urn:microsoft.com/office/officeart/2024/layout/BulletTimelineInverted"/>
    <dgm:cxn modelId="{9872728E-D472-B84A-8433-1590BD3F8B57}" type="presParOf" srcId="{6934829D-7E7F-B649-AFB5-17776416CF02}" destId="{45E627B6-4F41-9E46-97A5-AAF07293F2AD}" srcOrd="0" destOrd="0" presId="urn:microsoft.com/office/officeart/2024/layout/BulletTimelineInverted"/>
    <dgm:cxn modelId="{70EDEA7B-B8E8-FA47-BB1B-51B8F36FD3E8}" type="presParOf" srcId="{6934829D-7E7F-B649-AFB5-17776416CF02}" destId="{0CE8FDAC-44F7-B94D-806C-8BF9296D7D3D}" srcOrd="1" destOrd="0" presId="urn:microsoft.com/office/officeart/2024/layout/BulletTimelineInverted"/>
    <dgm:cxn modelId="{F91E7032-1B09-4D4A-BAE5-41BA3953E8A2}" type="presParOf" srcId="{986C41A3-343D-C64E-810E-0DEFCD41B00A}" destId="{32648804-1460-9544-BF08-180F4E85563E}" srcOrd="1" destOrd="0" presId="urn:microsoft.com/office/officeart/2024/layout/BulletTimelineInverted"/>
    <dgm:cxn modelId="{239B5910-E067-DC4B-9C5E-96650FD968F7}" type="presParOf" srcId="{986C41A3-343D-C64E-810E-0DEFCD41B00A}" destId="{131792EB-4F35-6A4C-8ED9-49470C759502}" srcOrd="2" destOrd="0" presId="urn:microsoft.com/office/officeart/2024/layout/BulletTimelineInverted"/>
    <dgm:cxn modelId="{B944E9DF-C0E1-EE4B-8E8E-B051C888509D}" type="presParOf" srcId="{986C41A3-343D-C64E-810E-0DEFCD41B00A}" destId="{5A79F3CA-4449-2948-9F33-F1DD7F8549AB}" srcOrd="3" destOrd="0" presId="urn:microsoft.com/office/officeart/2024/layout/BulletTimelineInverted"/>
    <dgm:cxn modelId="{2DA4C4C5-5E52-3F49-91D2-542B4CA13524}" type="presParOf" srcId="{986C41A3-343D-C64E-810E-0DEFCD41B00A}" destId="{3CC77CBB-30CE-1B4C-9424-7E084D76B11F}" srcOrd="4" destOrd="0" presId="urn:microsoft.com/office/officeart/2024/layout/BulletTimelineInverted"/>
    <dgm:cxn modelId="{0B0C6925-7DD0-8447-A0BC-59674D5ECE83}" type="presParOf" srcId="{3CC77CBB-30CE-1B4C-9424-7E084D76B11F}" destId="{B51B899D-BE20-8047-8AAF-9B7227856E6B}" srcOrd="0" destOrd="0" presId="urn:microsoft.com/office/officeart/2024/layout/BulletTimelineInverted"/>
    <dgm:cxn modelId="{C6AA902C-6A84-A843-ABE9-2B7A0B50C3A5}" type="presParOf" srcId="{986C41A3-343D-C64E-810E-0DEFCD41B00A}" destId="{587A9E2E-3460-C64C-A7D0-3B4AFEDA2823}" srcOrd="5" destOrd="0" presId="urn:microsoft.com/office/officeart/2024/layout/BulletTimelineInvert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906657-A153-C448-B837-8FE09150A9B3}">
      <dsp:nvSpPr>
        <dsp:cNvPr id="0" name=""/>
        <dsp:cNvSpPr/>
      </dsp:nvSpPr>
      <dsp:spPr>
        <a:xfrm>
          <a:off x="0" y="2153912"/>
          <a:ext cx="10473537" cy="43513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23A7F2-ECCF-F34C-829A-BC13E8D6D6E2}">
      <dsp:nvSpPr>
        <dsp:cNvPr id="0" name=""/>
        <dsp:cNvSpPr/>
      </dsp:nvSpPr>
      <dsp:spPr>
        <a:xfrm>
          <a:off x="10254519" y="2001615"/>
          <a:ext cx="261080" cy="348107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65A7C7-DB3C-3F4F-A4C9-221FD70004B1}">
      <dsp:nvSpPr>
        <dsp:cNvPr id="0" name=""/>
        <dsp:cNvSpPr/>
      </dsp:nvSpPr>
      <dsp:spPr>
        <a:xfrm>
          <a:off x="5345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Illumina </a:t>
          </a:r>
          <a:r>
            <a:rPr lang="en-US" sz="1300" kern="1200" dirty="0" err="1"/>
            <a:t>NovaSeq</a:t>
          </a:r>
          <a:r>
            <a:rPr lang="en-US" sz="1300" kern="1200" dirty="0"/>
            <a:t> PE 150 cycles</a:t>
          </a:r>
        </a:p>
      </dsp:txBody>
      <dsp:txXfrm>
        <a:off x="534590" y="1094002"/>
        <a:ext cx="2094309" cy="959275"/>
      </dsp:txXfrm>
    </dsp:sp>
    <dsp:sp modelId="{3DC20D57-9C6B-4740-93D8-DBF0745B09EC}">
      <dsp:nvSpPr>
        <dsp:cNvPr id="0" name=""/>
        <dsp:cNvSpPr/>
      </dsp:nvSpPr>
      <dsp:spPr>
        <a:xfrm>
          <a:off x="5345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Raw sequencing data</a:t>
          </a:r>
        </a:p>
      </dsp:txBody>
      <dsp:txXfrm>
        <a:off x="534590" y="597825"/>
        <a:ext cx="2094309" cy="496177"/>
      </dsp:txXfrm>
    </dsp:sp>
    <dsp:sp modelId="{1506A386-146A-2D43-9AFE-FF58A8BBF56C}">
      <dsp:nvSpPr>
        <dsp:cNvPr id="0" name=""/>
        <dsp:cNvSpPr/>
      </dsp:nvSpPr>
      <dsp:spPr>
        <a:xfrm>
          <a:off x="2505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152AB3-329E-FC4D-A41C-1C34DCFC912C}">
      <dsp:nvSpPr>
        <dsp:cNvPr id="0" name=""/>
        <dsp:cNvSpPr/>
      </dsp:nvSpPr>
      <dsp:spPr>
        <a:xfrm>
          <a:off x="1849040" y="2997411"/>
          <a:ext cx="2094309" cy="7973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BBDuk</a:t>
          </a:r>
          <a:endParaRPr lang="en-US" sz="1300" kern="1200" dirty="0"/>
        </a:p>
      </dsp:txBody>
      <dsp:txXfrm>
        <a:off x="1849040" y="2997411"/>
        <a:ext cx="2094309" cy="797321"/>
      </dsp:txXfrm>
    </dsp:sp>
    <dsp:sp modelId="{6403A277-8D69-C14B-969F-11AB776DBAE1}">
      <dsp:nvSpPr>
        <dsp:cNvPr id="0" name=""/>
        <dsp:cNvSpPr/>
      </dsp:nvSpPr>
      <dsp:spPr>
        <a:xfrm>
          <a:off x="1849040" y="2471519"/>
          <a:ext cx="2094309" cy="5258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Illumina adapter removal</a:t>
          </a:r>
        </a:p>
      </dsp:txBody>
      <dsp:txXfrm>
        <a:off x="1849040" y="2471519"/>
        <a:ext cx="2094309" cy="525892"/>
      </dsp:txXfrm>
    </dsp:sp>
    <dsp:sp modelId="{24AEA3E3-4CA4-8F4E-9FF1-34A2AF97C2C9}">
      <dsp:nvSpPr>
        <dsp:cNvPr id="0" name=""/>
        <dsp:cNvSpPr/>
      </dsp:nvSpPr>
      <dsp:spPr>
        <a:xfrm>
          <a:off x="1565039" y="2166162"/>
          <a:ext cx="33411" cy="166249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18A7B6-FC70-5649-B1CA-FB73E5C65EC7}">
      <dsp:nvSpPr>
        <dsp:cNvPr id="0" name=""/>
        <dsp:cNvSpPr/>
      </dsp:nvSpPr>
      <dsp:spPr>
        <a:xfrm>
          <a:off x="1804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669736-ED08-7446-8D5E-236FA36E84D0}">
      <dsp:nvSpPr>
        <dsp:cNvPr id="0" name=""/>
        <dsp:cNvSpPr/>
      </dsp:nvSpPr>
      <dsp:spPr>
        <a:xfrm>
          <a:off x="1494874" y="3741790"/>
          <a:ext cx="173741" cy="17374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718CDE-F63D-084B-9A5F-9BF0A0879C7F}">
      <dsp:nvSpPr>
        <dsp:cNvPr id="0" name=""/>
        <dsp:cNvSpPr/>
      </dsp:nvSpPr>
      <dsp:spPr>
        <a:xfrm>
          <a:off x="31634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BBDuk</a:t>
          </a:r>
          <a:endParaRPr lang="en-US" sz="1300" kern="1200" dirty="0"/>
        </a:p>
      </dsp:txBody>
      <dsp:txXfrm>
        <a:off x="3163490" y="1094002"/>
        <a:ext cx="2094309" cy="959275"/>
      </dsp:txXfrm>
    </dsp:sp>
    <dsp:sp modelId="{F92CE055-81E5-3A4C-8DEF-2EF2E3ECFE8D}">
      <dsp:nvSpPr>
        <dsp:cNvPr id="0" name=""/>
        <dsp:cNvSpPr/>
      </dsp:nvSpPr>
      <dsp:spPr>
        <a:xfrm>
          <a:off x="31634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 err="1"/>
            <a:t>PolyG</a:t>
          </a:r>
          <a:r>
            <a:rPr lang="en-US" sz="1700" kern="1200" dirty="0"/>
            <a:t> tract removal</a:t>
          </a:r>
        </a:p>
      </dsp:txBody>
      <dsp:txXfrm>
        <a:off x="3163490" y="597825"/>
        <a:ext cx="2094309" cy="496177"/>
      </dsp:txXfrm>
    </dsp:sp>
    <dsp:sp modelId="{84496AD9-8CE1-624F-BD69-17BA1D1C43FD}">
      <dsp:nvSpPr>
        <dsp:cNvPr id="0" name=""/>
        <dsp:cNvSpPr/>
      </dsp:nvSpPr>
      <dsp:spPr>
        <a:xfrm>
          <a:off x="28794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3D1FFF-B1B7-1D44-98D1-F0EAE0993E3D}">
      <dsp:nvSpPr>
        <dsp:cNvPr id="0" name=""/>
        <dsp:cNvSpPr/>
      </dsp:nvSpPr>
      <dsp:spPr>
        <a:xfrm>
          <a:off x="4477940" y="2997411"/>
          <a:ext cx="2094309" cy="7973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Prinseq</a:t>
          </a:r>
          <a:endParaRPr lang="en-US" sz="1300" kern="1200" dirty="0"/>
        </a:p>
      </dsp:txBody>
      <dsp:txXfrm>
        <a:off x="4477940" y="2997411"/>
        <a:ext cx="2094309" cy="797321"/>
      </dsp:txXfrm>
    </dsp:sp>
    <dsp:sp modelId="{D83E6DF7-8379-494D-A8C8-97781C166482}">
      <dsp:nvSpPr>
        <dsp:cNvPr id="0" name=""/>
        <dsp:cNvSpPr/>
      </dsp:nvSpPr>
      <dsp:spPr>
        <a:xfrm>
          <a:off x="4477940" y="2471519"/>
          <a:ext cx="2094309" cy="5258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Low-quality read removal</a:t>
          </a:r>
        </a:p>
      </dsp:txBody>
      <dsp:txXfrm>
        <a:off x="4477940" y="2471519"/>
        <a:ext cx="2094309" cy="525892"/>
      </dsp:txXfrm>
    </dsp:sp>
    <dsp:sp modelId="{08FF3C0B-F88F-344B-831B-20896348F0F4}">
      <dsp:nvSpPr>
        <dsp:cNvPr id="0" name=""/>
        <dsp:cNvSpPr/>
      </dsp:nvSpPr>
      <dsp:spPr>
        <a:xfrm>
          <a:off x="4193939" y="2166162"/>
          <a:ext cx="33411" cy="166249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5D53D9-ED55-974A-8449-349A35C0EA0B}">
      <dsp:nvSpPr>
        <dsp:cNvPr id="0" name=""/>
        <dsp:cNvSpPr/>
      </dsp:nvSpPr>
      <dsp:spPr>
        <a:xfrm>
          <a:off x="28093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2F6C80-48A2-EF46-8466-4A293D969951}">
      <dsp:nvSpPr>
        <dsp:cNvPr id="0" name=""/>
        <dsp:cNvSpPr/>
      </dsp:nvSpPr>
      <dsp:spPr>
        <a:xfrm>
          <a:off x="4123774" y="3741790"/>
          <a:ext cx="173741" cy="17374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12C38C-A503-8147-AE12-4D4CAEC77596}">
      <dsp:nvSpPr>
        <dsp:cNvPr id="0" name=""/>
        <dsp:cNvSpPr/>
      </dsp:nvSpPr>
      <dsp:spPr>
        <a:xfrm>
          <a:off x="57923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Bmtagger</a:t>
          </a:r>
          <a:endParaRPr lang="en-US" sz="1300" kern="1200" dirty="0"/>
        </a:p>
      </dsp:txBody>
      <dsp:txXfrm>
        <a:off x="5792390" y="1094002"/>
        <a:ext cx="2094309" cy="959275"/>
      </dsp:txXfrm>
    </dsp:sp>
    <dsp:sp modelId="{645EC21B-D860-F34E-8EBE-34E4D5770B33}">
      <dsp:nvSpPr>
        <dsp:cNvPr id="0" name=""/>
        <dsp:cNvSpPr/>
      </dsp:nvSpPr>
      <dsp:spPr>
        <a:xfrm>
          <a:off x="57923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Human reads removal</a:t>
          </a:r>
        </a:p>
      </dsp:txBody>
      <dsp:txXfrm>
        <a:off x="5792390" y="597825"/>
        <a:ext cx="2094309" cy="496177"/>
      </dsp:txXfrm>
    </dsp:sp>
    <dsp:sp modelId="{D6E4D181-4302-5348-87CF-5ACB0D6A9B31}">
      <dsp:nvSpPr>
        <dsp:cNvPr id="0" name=""/>
        <dsp:cNvSpPr/>
      </dsp:nvSpPr>
      <dsp:spPr>
        <a:xfrm>
          <a:off x="55083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C8757-6FC0-3443-B841-3D7E5077C9A9}">
      <dsp:nvSpPr>
        <dsp:cNvPr id="0" name=""/>
        <dsp:cNvSpPr/>
      </dsp:nvSpPr>
      <dsp:spPr>
        <a:xfrm>
          <a:off x="7106840" y="2997411"/>
          <a:ext cx="2094309" cy="7973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BBMap</a:t>
          </a:r>
          <a:endParaRPr lang="en-US" sz="1300" kern="1200" dirty="0"/>
        </a:p>
      </dsp:txBody>
      <dsp:txXfrm>
        <a:off x="7106840" y="2997411"/>
        <a:ext cx="2094309" cy="797321"/>
      </dsp:txXfrm>
    </dsp:sp>
    <dsp:sp modelId="{7587BAC8-60D1-2C4A-B965-6E92034D8560}">
      <dsp:nvSpPr>
        <dsp:cNvPr id="0" name=""/>
        <dsp:cNvSpPr/>
      </dsp:nvSpPr>
      <dsp:spPr>
        <a:xfrm>
          <a:off x="7106840" y="2471519"/>
          <a:ext cx="2094309" cy="5258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Read merging</a:t>
          </a:r>
        </a:p>
      </dsp:txBody>
      <dsp:txXfrm>
        <a:off x="7106840" y="2471519"/>
        <a:ext cx="2094309" cy="525892"/>
      </dsp:txXfrm>
    </dsp:sp>
    <dsp:sp modelId="{87E0C7FC-8705-AE42-B424-436DDAE67CE6}">
      <dsp:nvSpPr>
        <dsp:cNvPr id="0" name=""/>
        <dsp:cNvSpPr/>
      </dsp:nvSpPr>
      <dsp:spPr>
        <a:xfrm>
          <a:off x="6822839" y="2166162"/>
          <a:ext cx="33411" cy="166249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78DF18-8917-6947-A990-F14671223ED8}">
      <dsp:nvSpPr>
        <dsp:cNvPr id="0" name=""/>
        <dsp:cNvSpPr/>
      </dsp:nvSpPr>
      <dsp:spPr>
        <a:xfrm>
          <a:off x="54382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99F736-5F61-CE47-BEA7-4570355F1680}">
      <dsp:nvSpPr>
        <dsp:cNvPr id="0" name=""/>
        <dsp:cNvSpPr/>
      </dsp:nvSpPr>
      <dsp:spPr>
        <a:xfrm>
          <a:off x="6752674" y="3741790"/>
          <a:ext cx="173741" cy="17374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648804-1460-9544-BF08-180F4E85563E}">
      <dsp:nvSpPr>
        <dsp:cNvPr id="0" name=""/>
        <dsp:cNvSpPr/>
      </dsp:nvSpPr>
      <dsp:spPr>
        <a:xfrm>
          <a:off x="84212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Metaphlan</a:t>
          </a:r>
          <a:r>
            <a:rPr lang="en-US" sz="1300" kern="1200" dirty="0"/>
            <a:t> 4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SGB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GTDB r220</a:t>
          </a:r>
        </a:p>
      </dsp:txBody>
      <dsp:txXfrm>
        <a:off x="8421290" y="1094002"/>
        <a:ext cx="2094309" cy="959275"/>
      </dsp:txXfrm>
    </dsp:sp>
    <dsp:sp modelId="{131792EB-4F35-6A4C-8ED9-49470C759502}">
      <dsp:nvSpPr>
        <dsp:cNvPr id="0" name=""/>
        <dsp:cNvSpPr/>
      </dsp:nvSpPr>
      <dsp:spPr>
        <a:xfrm>
          <a:off x="84212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Metagenomics analysis</a:t>
          </a:r>
        </a:p>
      </dsp:txBody>
      <dsp:txXfrm>
        <a:off x="8421290" y="597825"/>
        <a:ext cx="2094309" cy="496177"/>
      </dsp:txXfrm>
    </dsp:sp>
    <dsp:sp modelId="{5A79F3CA-4449-2948-9F33-F1DD7F8549AB}">
      <dsp:nvSpPr>
        <dsp:cNvPr id="0" name=""/>
        <dsp:cNvSpPr/>
      </dsp:nvSpPr>
      <dsp:spPr>
        <a:xfrm>
          <a:off x="81372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1B899D-BE20-8047-8AAF-9B7227856E6B}">
      <dsp:nvSpPr>
        <dsp:cNvPr id="0" name=""/>
        <dsp:cNvSpPr/>
      </dsp:nvSpPr>
      <dsp:spPr>
        <a:xfrm>
          <a:off x="80671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Inverted">
  <dgm:title val=""/>
  <dgm:desc val=""/>
  <dgm:catLst>
    <dgm:cat type="process" pri="7451"/>
    <dgm:cat type="timeline" pri="101"/>
  </dgm:catLst>
  <dgm:sampData>
    <dgm:dataModel>
      <dgm:ptLst>
        <dgm:pt modelId="0" type="doc"/>
        <dgm:pt modelId="1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1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2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2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3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3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4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4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5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5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4948A0-7877-A840-81BA-A34A9861772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44CAA5-AC06-2943-960E-85EB38290C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584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491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96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0837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689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Betweenness centrality: </a:t>
            </a:r>
            <a:r>
              <a:rPr lang="en-US" dirty="0"/>
              <a:t>Measures how often a bacterial species acts as a bridge connecting other species in the network, the higher the number, the more the species act as bridge.</a:t>
            </a:r>
          </a:p>
          <a:p>
            <a:r>
              <a:rPr lang="en-US" b="1" dirty="0"/>
              <a:t>Harmonic closeness: </a:t>
            </a:r>
            <a:r>
              <a:rPr lang="en-US" dirty="0"/>
              <a:t>Harmonic centrality measures how close a bacterial species is to all other species in the network. The higher the value the more it can reach the rest of them through less connections.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239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Corrections from the draft: (1) the assumption is equal ABSOLUTE abundance, not 'equally shared' — that reads like prevalence. (2) The symbol is delta, not the partial-derivative sign. (3) The bias comes from the measurement process, not from the community 'naturally' — and it only counts as systematic when it correlates with a covariate in the formula. (4) Added the subtraction step, which the draft skipped: subtracting delta-hat from every taxon is what produces the lfc.
Direction: taxa above the null clump are enriched, below are depleted — both are findings. Significance is W = lfc/se, not distance from the clump.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Corrections from the draft: (1) 'Works with non-compositional data after normalizing' is backwards — TSS produces proportions, which IS compositional data. Normalizations are scale models with implicit assumptions; TSS assumes constant microbial load. MaAsLin 2 doesn't escape the scale problem, it declines to model it. (2) MaAsLin2's LOG transform is base 2, so coef = 0.85 means 2^0.85 = 1.8x, an ~80% increase — not 'an increase of 0.85'. (3) It's an increase in the taxon's SHARE of the community, not the amount present. (4) The original example used BMI — Table 2 fallacy, since the model is adjusted to estimate the group effect. Switched to group.
Pair with the ANCOM-BC2 slide: same data, different estimand. Disagreement between the two is informative — it signals that total load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73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Tremors and dyskinesia are involuntary movements.</a:t>
            </a:r>
          </a:p>
          <a:p>
            <a:endParaRPr lang="en-US" dirty="0"/>
          </a:p>
          <a:p>
            <a:r>
              <a:rPr lang="en-US" b="1" dirty="0"/>
              <a:t>Akinesia </a:t>
            </a:r>
            <a:r>
              <a:rPr lang="en-US" b="0" dirty="0"/>
              <a:t>loss of voluntary movement</a:t>
            </a:r>
            <a:endParaRPr lang="en-US" b="1" dirty="0"/>
          </a:p>
          <a:p>
            <a:r>
              <a:rPr lang="en-US" b="1" dirty="0"/>
              <a:t>Tremors</a:t>
            </a:r>
            <a:r>
              <a:rPr lang="en-US" dirty="0"/>
              <a:t> are rhythmic, shaking, and happen at rest</a:t>
            </a:r>
          </a:p>
          <a:p>
            <a:r>
              <a:rPr lang="en-US" b="1" dirty="0"/>
              <a:t>Dyskinesia</a:t>
            </a:r>
            <a:r>
              <a:rPr lang="en-US" dirty="0"/>
              <a:t> is irregular, jerky movements often caused by long-term medication use</a:t>
            </a:r>
          </a:p>
          <a:p>
            <a:endParaRPr lang="en-US" dirty="0"/>
          </a:p>
          <a:p>
            <a:r>
              <a:rPr lang="en-US" b="1" dirty="0"/>
              <a:t>Motor fluctuations </a:t>
            </a:r>
            <a:r>
              <a:rPr lang="en-US" b="0" dirty="0"/>
              <a:t>are the changes in symptoms related to medication timing</a:t>
            </a:r>
          </a:p>
          <a:p>
            <a:r>
              <a:rPr lang="en-US" b="1" dirty="0"/>
              <a:t>Painful dystonia </a:t>
            </a:r>
            <a:r>
              <a:rPr lang="en-US" b="0" dirty="0"/>
              <a:t>are involuntary contractions that come with sever pain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B58301-8E47-694C-884E-80E9D5260CC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84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5DF27-F767-0891-0473-F45945BACB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03808-0BC3-E1A6-2E20-C5B1F6443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88984-2C72-E879-7919-7320A0FE8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BF41A-5229-3AAF-5382-AEBD559A7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D204E-D063-35CB-D0A2-E0331EEB0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709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B473-C9F9-2F60-4037-C04D9515E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9917F-43CE-4786-7AA7-E1084B7DAD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0F042-64C4-E6E9-D04C-4F6B8E8A6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58374-0D81-D071-90ED-6587C206D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0D2F7-E04B-0E03-6930-059908F5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788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CF72B-EA43-EF07-5872-0C014A33F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E5B16-50E0-BCAA-0666-71D33201B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10E81-E2CC-542C-89DD-F0CCD4CE6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06977-6CC4-546E-3944-AC9600CA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408C1-83EA-7358-6768-8E16D9127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9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0D71B-E91C-B4A9-5DDE-680B31FB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FD452-1BD3-3284-EDCC-5D3A74970A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D1E872-F0B1-1083-564C-C5C3C55A82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EB507-25E7-8A16-B5BC-D9E3EBC33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E2B4CD-E163-9D34-38BD-84D2DC233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70ECA9-912B-B7E9-72E7-E0E6061CC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952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89FB1-FF97-BED2-CF72-260CA2B68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38420-3EE3-9379-56C6-52DB2E1F0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6288CB-9CE4-FB18-AECE-DC83971BF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C50825-602D-DA05-BD12-5AD641194F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585E2-F974-1981-B0C6-DDE9633939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E806F6-3E8E-0E4B-6BCC-FBD5936A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0179F6-2756-9537-D953-7267C3F7E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B3055B-6E18-FF29-3C3B-8D900EA0D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39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D846D-3BC5-5526-00A0-F890D38B6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3CA013-D174-7695-5738-4367008E3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30E62-391C-C514-21D0-3458D587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315AA-EE4F-4D5C-5D63-D6C005C9A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19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943BDA-B229-1515-FDB6-05D4F84B5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8575AF-94B6-1665-E995-F038C92B3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7EDDF-6B58-28C6-302E-97C3F59F0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258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5932-A6C4-788B-3027-118C1A771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89BF5-2D2F-CE3A-4553-6C8BA2BFF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7B1771-F162-4115-9623-811900C791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F671C4-6E9E-5F3C-0EEF-5DD98F016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7B3DF6-6A4A-8070-253F-087AEBB21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71DD50-BBE0-48C6-BC95-6730288F5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650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ADE6-9C72-7566-62A5-CBF21BD4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500A23-4D81-0862-156F-A958DEEBF0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7BE599-8C4A-8712-8F9F-C0A2625EB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AB41E2-F262-628D-2D23-D4644D719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49B2D5-AD48-0490-C9D8-ECE5ED582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701F9-E5AD-42A5-0BD5-80B3414B7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51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044AE-BF9F-42BE-DDB5-5F069B622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AE5A82-C322-0490-7DAA-FEF0BF2EF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77B0-B501-1906-9C93-3F2A85629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AF74A-CE47-D8F2-8E78-A2782D1D7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ED1CF-DBB1-6122-2F3D-7C2F61F27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777E9C-5168-C9E3-727C-5F4C7F3A3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96DA7F-C154-9B3A-9E11-1D429207C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81B8C-20CD-44BA-0104-E1216EC4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81BD83-1D8D-7A24-C01B-663876C96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CBCCA-B7AB-57CD-4C9A-6E9212E1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229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5202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E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8306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F3C85-29BC-68D7-D378-0DEC70556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082CA-3640-146A-CD81-D38663C82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64AA0-D665-7BE4-B32C-8650E4EB02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468BC-47BD-7E9B-7FB3-70AF2FEAF3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3CBE3-FB60-7A41-DE6B-A18E0A77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445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4644-02F6-3390-4278-9D8DAEC81F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Parkinson’s Data Update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8A863-B92A-9F45-EB70-899EDA0911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Daniel Castaneda Mogollon, PhD</a:t>
            </a:r>
          </a:p>
          <a:p>
            <a:r>
              <a:rPr lang="en-US"/>
              <a:t>06/01/2026</a:t>
            </a:r>
          </a:p>
          <a:p>
            <a:r>
              <a:rPr lang="en-US"/>
              <a:t>Sycuro Lab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225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EAF5F-EBB4-121C-F786-8A7166FD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Sequencing Data Workflow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25CF85-571E-D4C7-8BFB-7FA9B220B1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106628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3799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333FB-73FF-99C6-D5C6-63D29BB2F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34" y="270675"/>
            <a:ext cx="10515600" cy="1325563"/>
          </a:xfrm>
        </p:spPr>
        <p:txBody>
          <a:bodyPr/>
          <a:lstStyle/>
          <a:p>
            <a:r>
              <a:rPr lang="en-US" dirty="0"/>
              <a:t>QC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D64378-029C-82CC-C3B0-BC2D0C722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843" y="2735478"/>
            <a:ext cx="3449040" cy="4122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C2626C-0F9A-1C5F-554B-026A1CC00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883" y="2846465"/>
            <a:ext cx="2531776" cy="40115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9C440A-E21A-AF9E-D1BE-73023397A6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659" y="2846465"/>
            <a:ext cx="2091874" cy="3918437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5F15F8A-136A-8BD3-F31F-D9ECC7CDF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6" y="139726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Only high-quality read data was used for downstream analysis. Any samples with less than 900,000 reads was filtered out:</a:t>
            </a:r>
          </a:p>
          <a:p>
            <a:pPr lvl="1"/>
            <a:r>
              <a:rPr lang="en-US" sz="2000" dirty="0"/>
              <a:t>158/184 (~86%)</a:t>
            </a:r>
          </a:p>
        </p:txBody>
      </p:sp>
    </p:spTree>
    <p:extLst>
      <p:ext uri="{BB962C8B-B14F-4D97-AF65-F5344CB8AC3E}">
        <p14:creationId xmlns:p14="http://schemas.microsoft.com/office/powerpoint/2010/main" val="1857955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1308D-B902-F659-672C-C7757B38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CC522-55CC-6D7D-D222-CA06B9D56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186 *_1.fastq.gz files in the original Data folder</a:t>
            </a:r>
          </a:p>
          <a:p>
            <a:r>
              <a:rPr lang="en-US" dirty="0"/>
              <a:t>186 *_2.fastq.gz files in the original Data folder</a:t>
            </a:r>
          </a:p>
          <a:p>
            <a:r>
              <a:rPr lang="en-US" dirty="0"/>
              <a:t>Raw </a:t>
            </a:r>
            <a:r>
              <a:rPr lang="en-US" dirty="0" err="1"/>
              <a:t>fastqc</a:t>
            </a:r>
            <a:r>
              <a:rPr lang="en-US" dirty="0"/>
              <a:t> matches raw data folder number of samples</a:t>
            </a:r>
          </a:p>
          <a:p>
            <a:r>
              <a:rPr lang="en-US" dirty="0"/>
              <a:t>Same for </a:t>
            </a:r>
            <a:r>
              <a:rPr lang="en-US" dirty="0" err="1"/>
              <a:t>bbduk</a:t>
            </a:r>
            <a:r>
              <a:rPr lang="en-US" dirty="0"/>
              <a:t> adapt and </a:t>
            </a:r>
            <a:r>
              <a:rPr lang="en-US" dirty="0" err="1"/>
              <a:t>polyg</a:t>
            </a:r>
            <a:endParaRPr lang="en-US" dirty="0"/>
          </a:p>
          <a:p>
            <a:r>
              <a:rPr lang="en-US" dirty="0"/>
              <a:t>Same for </a:t>
            </a:r>
            <a:r>
              <a:rPr lang="en-US" dirty="0" err="1"/>
              <a:t>bbmerge</a:t>
            </a:r>
            <a:r>
              <a:rPr lang="en-US" dirty="0"/>
              <a:t> and </a:t>
            </a:r>
            <a:r>
              <a:rPr lang="en-US" dirty="0" err="1"/>
              <a:t>bmtagger</a:t>
            </a:r>
            <a:endParaRPr lang="en-US" dirty="0"/>
          </a:p>
          <a:p>
            <a:r>
              <a:rPr lang="en-US" dirty="0"/>
              <a:t>176 </a:t>
            </a:r>
            <a:r>
              <a:rPr lang="en-US" dirty="0" err="1"/>
              <a:t>metaphlan</a:t>
            </a:r>
            <a:r>
              <a:rPr lang="en-US" dirty="0"/>
              <a:t> samples, 10 for </a:t>
            </a:r>
            <a:r>
              <a:rPr lang="en-US" dirty="0" err="1"/>
              <a:t>ctrls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979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F4EC-BA49-F404-7251-F7EF6F01F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Metagenomics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4312D-4660-8BBB-AAE1-61D12E0C8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u="sng" dirty="0"/>
              <a:t>Diversity differences:</a:t>
            </a:r>
          </a:p>
          <a:p>
            <a:pPr lvl="1"/>
            <a:r>
              <a:rPr lang="en-US" dirty="0" err="1"/>
              <a:t>ß</a:t>
            </a:r>
            <a:r>
              <a:rPr lang="en-US" dirty="0"/>
              <a:t>-diversity (NMDS) – filtered by species-level taxa, CLR normalized</a:t>
            </a:r>
          </a:p>
          <a:p>
            <a:pPr lvl="1"/>
            <a:r>
              <a:rPr lang="en-US" dirty="0"/>
              <a:t>a-diversity (Shannon, Simpson, Observed) – unfiltered, not normalized</a:t>
            </a:r>
          </a:p>
          <a:p>
            <a:pPr lvl="1"/>
            <a:endParaRPr lang="en-US" dirty="0"/>
          </a:p>
          <a:p>
            <a:r>
              <a:rPr lang="en-US" u="sng" dirty="0"/>
              <a:t>Taxonomic enrichment:</a:t>
            </a:r>
          </a:p>
          <a:p>
            <a:pPr lvl="1"/>
            <a:r>
              <a:rPr lang="en-US" dirty="0"/>
              <a:t>Linear mixed model testing (univariate, multivariate) – filtered by species-level taxa</a:t>
            </a:r>
          </a:p>
          <a:p>
            <a:pPr lvl="1"/>
            <a:endParaRPr lang="en-US" dirty="0"/>
          </a:p>
          <a:p>
            <a:r>
              <a:rPr lang="en-US" u="sng" dirty="0"/>
              <a:t>Taxa-to-taxa correlation network:</a:t>
            </a:r>
          </a:p>
          <a:p>
            <a:pPr lvl="1"/>
            <a:r>
              <a:rPr lang="en-US" dirty="0"/>
              <a:t>LASSO and </a:t>
            </a:r>
            <a:r>
              <a:rPr lang="en-US" dirty="0" err="1"/>
              <a:t>Neighborgh</a:t>
            </a:r>
            <a:r>
              <a:rPr lang="en-US" dirty="0"/>
              <a:t> taxa correlation (</a:t>
            </a:r>
            <a:r>
              <a:rPr lang="en-US" dirty="0" err="1"/>
              <a:t>spieceasi</a:t>
            </a:r>
            <a:r>
              <a:rPr lang="en-US" dirty="0"/>
              <a:t>) – filtered by species-level taxa</a:t>
            </a:r>
          </a:p>
        </p:txBody>
      </p:sp>
      <p:pic>
        <p:nvPicPr>
          <p:cNvPr id="5" name="Graphic 4" descr="Circles with arrows outline">
            <a:extLst>
              <a:ext uri="{FF2B5EF4-FFF2-40B4-BE49-F238E27FC236}">
                <a16:creationId xmlns:a16="http://schemas.microsoft.com/office/drawing/2014/main" id="{8491032B-16FA-555E-6109-0BA026E92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43818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242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7B146-6C58-10C3-AA1F-CAFAC967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7951D7-F73D-2228-CB35-C3442FFE08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51" t="10001" r="6362" b="55506"/>
          <a:stretch>
            <a:fillRect/>
          </a:stretch>
        </p:blipFill>
        <p:spPr>
          <a:xfrm>
            <a:off x="838200" y="1938130"/>
            <a:ext cx="6903856" cy="3518453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013D7298-9D53-2474-1D4B-9FD8217B515B}"/>
              </a:ext>
            </a:extLst>
          </p:cNvPr>
          <p:cNvSpPr/>
          <p:nvPr/>
        </p:nvSpPr>
        <p:spPr>
          <a:xfrm>
            <a:off x="3574959" y="4523943"/>
            <a:ext cx="126571" cy="12657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81AD92C-E5B8-8F39-9B09-E94D0022DAAA}"/>
              </a:ext>
            </a:extLst>
          </p:cNvPr>
          <p:cNvSpPr/>
          <p:nvPr/>
        </p:nvSpPr>
        <p:spPr>
          <a:xfrm>
            <a:off x="4741843" y="4174322"/>
            <a:ext cx="126571" cy="126571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887EA4-4E08-01A7-3BAA-94B70CC2C653}"/>
              </a:ext>
            </a:extLst>
          </p:cNvPr>
          <p:cNvCxnSpPr>
            <a:cxnSpLocks/>
            <a:stCxn id="9" idx="0"/>
            <a:endCxn id="15" idx="1"/>
          </p:cNvCxnSpPr>
          <p:nvPr/>
        </p:nvCxnSpPr>
        <p:spPr>
          <a:xfrm rot="5400000" flipH="1" flipV="1">
            <a:off x="5469419" y="3220820"/>
            <a:ext cx="289213" cy="1617793"/>
          </a:xfrm>
          <a:prstGeom prst="bentConnector2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1AB92560-D329-F3FE-2219-97BE6CE09813}"/>
              </a:ext>
            </a:extLst>
          </p:cNvPr>
          <p:cNvCxnSpPr>
            <a:cxnSpLocks/>
            <a:stCxn id="8" idx="0"/>
            <a:endCxn id="16" idx="1"/>
          </p:cNvCxnSpPr>
          <p:nvPr/>
        </p:nvCxnSpPr>
        <p:spPr>
          <a:xfrm rot="5400000" flipH="1" flipV="1">
            <a:off x="4995137" y="3096159"/>
            <a:ext cx="70892" cy="2784677"/>
          </a:xfrm>
          <a:prstGeom prst="bentConnector2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D180F69-8AF8-018D-BCD1-458CECC40EA1}"/>
              </a:ext>
            </a:extLst>
          </p:cNvPr>
          <p:cNvSpPr txBox="1"/>
          <p:nvPr/>
        </p:nvSpPr>
        <p:spPr>
          <a:xfrm>
            <a:off x="6422922" y="3669665"/>
            <a:ext cx="1087150" cy="43088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/>
              <a:t>n = 184 (2024)</a:t>
            </a:r>
          </a:p>
          <a:p>
            <a:r>
              <a:rPr lang="en-US" sz="1100" dirty="0"/>
              <a:t>67.9% PD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C624F-E867-A482-BC5F-DD24B50395A8}"/>
              </a:ext>
            </a:extLst>
          </p:cNvPr>
          <p:cNvSpPr txBox="1"/>
          <p:nvPr/>
        </p:nvSpPr>
        <p:spPr>
          <a:xfrm>
            <a:off x="6422922" y="4237607"/>
            <a:ext cx="1087150" cy="4308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/>
              <a:t>n = 276 (2024)</a:t>
            </a:r>
          </a:p>
          <a:p>
            <a:r>
              <a:rPr lang="en-US" sz="1100" dirty="0"/>
              <a:t>63.8% PD</a:t>
            </a:r>
          </a:p>
        </p:txBody>
      </p:sp>
    </p:spTree>
    <p:extLst>
      <p:ext uri="{BB962C8B-B14F-4D97-AF65-F5344CB8AC3E}">
        <p14:creationId xmlns:p14="http://schemas.microsoft.com/office/powerpoint/2010/main" val="3020421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CC8C3D5B-9153-B5EB-E7C0-003D1D92F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25" y="2417007"/>
            <a:ext cx="4440993" cy="44409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75C9CE-CD80-14B3-7FBE-8C7E1996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18" y="351069"/>
            <a:ext cx="10515600" cy="1325563"/>
          </a:xfrm>
        </p:spPr>
        <p:txBody>
          <a:bodyPr/>
          <a:lstStyle/>
          <a:p>
            <a:r>
              <a:rPr lang="en-US" dirty="0"/>
              <a:t>Gut Microbiome Diversity Differs by PD Status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A21FDC-3878-BD73-D62B-6C02DE1D1B04}"/>
              </a:ext>
            </a:extLst>
          </p:cNvPr>
          <p:cNvSpPr txBox="1"/>
          <p:nvPr/>
        </p:nvSpPr>
        <p:spPr>
          <a:xfrm>
            <a:off x="3015805" y="5877120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&lt; 0.001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E0D13BD-9387-8747-1026-17479F976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9254" y="3424865"/>
            <a:ext cx="2519067" cy="2925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A3DA221-642D-15F7-DB1C-0703B9A2C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8321" y="3429000"/>
            <a:ext cx="2394393" cy="284510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8BAF60-852E-BFC1-2544-32E8BCCE7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7883" y="3467493"/>
            <a:ext cx="2710877" cy="288324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21218B7-7E6D-64F4-B39E-2689E7DDFB04}"/>
              </a:ext>
            </a:extLst>
          </p:cNvPr>
          <p:cNvSpPr txBox="1"/>
          <p:nvPr/>
        </p:nvSpPr>
        <p:spPr>
          <a:xfrm>
            <a:off x="619918" y="1504594"/>
            <a:ext cx="87792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- The overall gut microbiome between PD and HC is significantly different</a:t>
            </a:r>
          </a:p>
          <a:p>
            <a:r>
              <a:rPr lang="en-US" sz="2000" dirty="0"/>
              <a:t>- HC harbors more bacterial species, but those contribute little to the overall abundance and community evenness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18550B-CC4C-EA14-982F-E485B821E1D3}"/>
              </a:ext>
            </a:extLst>
          </p:cNvPr>
          <p:cNvSpPr txBox="1"/>
          <p:nvPr/>
        </p:nvSpPr>
        <p:spPr>
          <a:xfrm>
            <a:off x="6183321" y="3304450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379039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F6093-6E9D-62B7-70B4-287CBCBCA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Gut Microbiome Diversity Differs by PD and Sex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F766FF-93E1-23EB-BDCC-6ECFAF657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959524"/>
              </p:ext>
            </p:extLst>
          </p:nvPr>
        </p:nvGraphicFramePr>
        <p:xfrm>
          <a:off x="838200" y="5545010"/>
          <a:ext cx="3268301" cy="1257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57915">
                  <a:extLst>
                    <a:ext uri="{9D8B030D-6E8A-4147-A177-3AD203B41FA5}">
                      <a16:colId xmlns:a16="http://schemas.microsoft.com/office/drawing/2014/main" val="220091273"/>
                    </a:ext>
                  </a:extLst>
                </a:gridCol>
                <a:gridCol w="1110386">
                  <a:extLst>
                    <a:ext uri="{9D8B030D-6E8A-4147-A177-3AD203B41FA5}">
                      <a16:colId xmlns:a16="http://schemas.microsoft.com/office/drawing/2014/main" val="4653874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50" b="1" dirty="0"/>
                        <a:t>Pairwise comparison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/>
                        <a:t>P-</a:t>
                      </a:r>
                      <a:r>
                        <a:rPr lang="en-US" sz="1050" b="1" dirty="0" err="1"/>
                        <a:t>val</a:t>
                      </a:r>
                      <a:r>
                        <a:rPr lang="en-US" sz="1050" b="1" dirty="0"/>
                        <a:t> adj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2109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PD-male vs PD-female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0.91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781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PD-male vs HC-male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/>
                        <a:t>&lt;0.001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8534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PD-female vs HC-female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/>
                        <a:t>0.002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0924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HC-male vs HC-female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0.41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4784232"/>
                  </a:ext>
                </a:extLst>
              </a:tr>
            </a:tbl>
          </a:graphicData>
        </a:graphic>
      </p:graphicFrame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5869774B-E83A-D6AA-849E-555ACB4834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0786" b="10567"/>
          <a:stretch>
            <a:fillRect/>
          </a:stretch>
        </p:blipFill>
        <p:spPr>
          <a:xfrm>
            <a:off x="550863" y="1792926"/>
            <a:ext cx="4609612" cy="36253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D5BB614-F80F-E815-41AB-85225A5FA797}"/>
              </a:ext>
            </a:extLst>
          </p:cNvPr>
          <p:cNvSpPr txBox="1"/>
          <p:nvPr/>
        </p:nvSpPr>
        <p:spPr>
          <a:xfrm>
            <a:off x="2726532" y="4618688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&lt; 0.001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D3C599A-A55F-B61F-4AC7-96FC318FB1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069" b="14191"/>
          <a:stretch>
            <a:fillRect/>
          </a:stretch>
        </p:blipFill>
        <p:spPr>
          <a:xfrm>
            <a:off x="5633792" y="1254266"/>
            <a:ext cx="3208075" cy="23335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C487-F905-EE29-06E7-3F16629A04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808" b="12971"/>
          <a:stretch>
            <a:fillRect/>
          </a:stretch>
        </p:blipFill>
        <p:spPr>
          <a:xfrm>
            <a:off x="5739066" y="3855972"/>
            <a:ext cx="3144069" cy="23335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1C18ED9-6FFA-B30A-09B8-A59A3B7654DA}"/>
              </a:ext>
            </a:extLst>
          </p:cNvPr>
          <p:cNvSpPr txBox="1"/>
          <p:nvPr/>
        </p:nvSpPr>
        <p:spPr>
          <a:xfrm>
            <a:off x="5966164" y="5703049"/>
            <a:ext cx="7873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 &lt; 0.001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46FD53-926E-6678-FE23-3FA7B1D1708A}"/>
              </a:ext>
            </a:extLst>
          </p:cNvPr>
          <p:cNvSpPr txBox="1"/>
          <p:nvPr/>
        </p:nvSpPr>
        <p:spPr>
          <a:xfrm>
            <a:off x="7311100" y="3076035"/>
            <a:ext cx="7873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 = 0.002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D8EE7BB-3F86-3340-E7B6-0DFE62CD7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6562" y="3214534"/>
            <a:ext cx="2552700" cy="334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79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F552E-7133-6317-3212-7CAE87F30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832" y="81288"/>
            <a:ext cx="10515600" cy="1325563"/>
          </a:xfrm>
        </p:spPr>
        <p:txBody>
          <a:bodyPr/>
          <a:lstStyle/>
          <a:p>
            <a:r>
              <a:rPr lang="en-US" dirty="0"/>
              <a:t>Taxonomic Enrichment by PD Status and Sex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9F9BD3-3AE9-5F2C-BC84-F84B40220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3738"/>
            <a:ext cx="4972188" cy="45164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19E585-D9B1-4655-B229-83ABA5A32568}"/>
              </a:ext>
            </a:extLst>
          </p:cNvPr>
          <p:cNvSpPr txBox="1"/>
          <p:nvPr/>
        </p:nvSpPr>
        <p:spPr>
          <a:xfrm>
            <a:off x="438766" y="1068243"/>
            <a:ext cx="2845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Y ~ ß</a:t>
            </a:r>
            <a:r>
              <a:rPr lang="en-US" i="1" baseline="-25000" dirty="0"/>
              <a:t>0</a:t>
            </a:r>
            <a:r>
              <a:rPr lang="en-US" i="1" dirty="0"/>
              <a:t>diagnosis + ß</a:t>
            </a:r>
            <a:r>
              <a:rPr lang="en-US" i="1" baseline="-25000" dirty="0"/>
              <a:t>1</a:t>
            </a:r>
            <a:r>
              <a:rPr lang="en-US" i="1" dirty="0"/>
              <a:t>Sex + 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3C96138-873F-4633-4665-743DE8718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576" y="1664707"/>
            <a:ext cx="4611209" cy="49354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ED1C878-959A-F7B4-DF7F-B1C030DF5B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6157" y="1871302"/>
            <a:ext cx="1636036" cy="354474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18A90B2-EA96-889C-4CCC-91B617025F09}"/>
              </a:ext>
            </a:extLst>
          </p:cNvPr>
          <p:cNvSpPr txBox="1"/>
          <p:nvPr/>
        </p:nvSpPr>
        <p:spPr>
          <a:xfrm rot="18806781">
            <a:off x="9552985" y="5672535"/>
            <a:ext cx="10695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Barrier integrity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CCB4CD-B2FF-EC64-98C3-DDADAC88E511}"/>
              </a:ext>
            </a:extLst>
          </p:cNvPr>
          <p:cNvSpPr txBox="1"/>
          <p:nvPr/>
        </p:nvSpPr>
        <p:spPr>
          <a:xfrm rot="18806781">
            <a:off x="9781894" y="5711088"/>
            <a:ext cx="119455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Barrier disruption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E81D5E-FDAB-5481-679E-95F6133C2328}"/>
              </a:ext>
            </a:extLst>
          </p:cNvPr>
          <p:cNvSpPr txBox="1"/>
          <p:nvPr/>
        </p:nvSpPr>
        <p:spPr>
          <a:xfrm rot="18806781">
            <a:off x="9879410" y="5803397"/>
            <a:ext cx="147989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Levodopa degradation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17792-FCD2-F530-0C8A-607A8F1168F5}"/>
              </a:ext>
            </a:extLst>
          </p:cNvPr>
          <p:cNvSpPr txBox="1"/>
          <p:nvPr/>
        </p:nvSpPr>
        <p:spPr>
          <a:xfrm rot="18806781">
            <a:off x="10276916" y="5776238"/>
            <a:ext cx="1418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Imidazole production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D2693B-1D62-EB4C-1EFA-F62C1B37A068}"/>
              </a:ext>
            </a:extLst>
          </p:cNvPr>
          <p:cNvSpPr txBox="1"/>
          <p:nvPr/>
        </p:nvSpPr>
        <p:spPr>
          <a:xfrm rot="18806781">
            <a:off x="10836186" y="5669688"/>
            <a:ext cx="115288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SCFA generation</a:t>
            </a:r>
          </a:p>
        </p:txBody>
      </p:sp>
    </p:spTree>
    <p:extLst>
      <p:ext uri="{BB962C8B-B14F-4D97-AF65-F5344CB8AC3E}">
        <p14:creationId xmlns:p14="http://schemas.microsoft.com/office/powerpoint/2010/main" val="2682718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392CB2-895F-8FCF-219A-C0929A393BB6}"/>
              </a:ext>
            </a:extLst>
          </p:cNvPr>
          <p:cNvSpPr txBox="1"/>
          <p:nvPr/>
        </p:nvSpPr>
        <p:spPr>
          <a:xfrm>
            <a:off x="7752064" y="1454299"/>
            <a:ext cx="2897460" cy="4216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40" b="1" dirty="0">
                <a:solidFill>
                  <a:srgbClr val="7030A0"/>
                </a:solidFill>
              </a:rPr>
              <a:t>Cofactor biosynthesis</a:t>
            </a:r>
          </a:p>
          <a:p>
            <a:r>
              <a:rPr lang="en-US" sz="1340" b="1" dirty="0">
                <a:solidFill>
                  <a:srgbClr val="7030A0"/>
                </a:solidFill>
              </a:rPr>
              <a:t>Cofactor biosynthesis</a:t>
            </a:r>
          </a:p>
          <a:p>
            <a:r>
              <a:rPr lang="en-US" sz="1340" b="1" dirty="0">
                <a:solidFill>
                  <a:srgbClr val="941100"/>
                </a:solidFill>
              </a:rPr>
              <a:t>Metabolite conversion</a:t>
            </a:r>
          </a:p>
          <a:p>
            <a:r>
              <a:rPr lang="en-US" sz="1340" b="1" dirty="0">
                <a:solidFill>
                  <a:srgbClr val="0070C0"/>
                </a:solidFill>
              </a:rPr>
              <a:t>Protein biosynthesis</a:t>
            </a:r>
          </a:p>
          <a:p>
            <a:r>
              <a:rPr lang="en-US" sz="1340" b="1" dirty="0">
                <a:solidFill>
                  <a:schemeClr val="accent4">
                    <a:lumMod val="75000"/>
                  </a:schemeClr>
                </a:solidFill>
              </a:rPr>
              <a:t>Metabolite biosynthesis</a:t>
            </a:r>
          </a:p>
          <a:p>
            <a:r>
              <a:rPr lang="en-US" sz="1340" b="1" dirty="0">
                <a:solidFill>
                  <a:srgbClr val="FF0000"/>
                </a:solidFill>
              </a:rPr>
              <a:t>Generation of energy and metabolites</a:t>
            </a:r>
          </a:p>
          <a:p>
            <a:r>
              <a:rPr lang="en-US" sz="1340" b="1" dirty="0">
                <a:solidFill>
                  <a:srgbClr val="FF0000"/>
                </a:solidFill>
              </a:rPr>
              <a:t>Generation of energy and metabolites</a:t>
            </a:r>
          </a:p>
          <a:p>
            <a:r>
              <a:rPr lang="en-US" sz="1340" b="1" dirty="0">
                <a:solidFill>
                  <a:srgbClr val="929292"/>
                </a:solidFill>
              </a:rPr>
              <a:t>Nucleotide biosynthesis</a:t>
            </a:r>
          </a:p>
          <a:p>
            <a:r>
              <a:rPr lang="en-US" sz="1340" b="1" dirty="0">
                <a:solidFill>
                  <a:srgbClr val="FF0000"/>
                </a:solidFill>
              </a:rPr>
              <a:t>Generation of energy</a:t>
            </a:r>
          </a:p>
          <a:p>
            <a:r>
              <a:rPr lang="en-US" sz="1340" b="1" dirty="0">
                <a:solidFill>
                  <a:srgbClr val="FF7E79"/>
                </a:solidFill>
              </a:rPr>
              <a:t>Biosynthesis of other products</a:t>
            </a:r>
          </a:p>
          <a:p>
            <a:r>
              <a:rPr lang="en-US" sz="1340" b="1" dirty="0"/>
              <a:t>Nucleotide degradation</a:t>
            </a:r>
          </a:p>
          <a:p>
            <a:r>
              <a:rPr lang="en-US" sz="1340" b="1" dirty="0">
                <a:solidFill>
                  <a:srgbClr val="00B050"/>
                </a:solidFill>
              </a:rPr>
              <a:t>Vitamin biosynthesis</a:t>
            </a:r>
          </a:p>
          <a:p>
            <a:r>
              <a:rPr lang="en-US" sz="1340" b="1" dirty="0">
                <a:solidFill>
                  <a:srgbClr val="00B050"/>
                </a:solidFill>
              </a:rPr>
              <a:t>Vitamin biosynthesis</a:t>
            </a:r>
          </a:p>
          <a:p>
            <a:r>
              <a:rPr lang="en-US" sz="1340" b="1" dirty="0">
                <a:solidFill>
                  <a:srgbClr val="00B050"/>
                </a:solidFill>
              </a:rPr>
              <a:t>Vitamin biosynthesis</a:t>
            </a:r>
          </a:p>
          <a:p>
            <a:r>
              <a:rPr lang="en-US" sz="1340" b="1" dirty="0">
                <a:solidFill>
                  <a:schemeClr val="accent2">
                    <a:lumMod val="75000"/>
                  </a:schemeClr>
                </a:solidFill>
              </a:rPr>
              <a:t>Sugar degradation</a:t>
            </a:r>
          </a:p>
          <a:p>
            <a:r>
              <a:rPr lang="en-US" sz="1340" b="1" dirty="0">
                <a:solidFill>
                  <a:schemeClr val="accent2">
                    <a:lumMod val="75000"/>
                  </a:schemeClr>
                </a:solidFill>
              </a:rPr>
              <a:t>Sugar degradation</a:t>
            </a:r>
          </a:p>
          <a:p>
            <a:r>
              <a:rPr lang="en-US" sz="1340" b="1" dirty="0">
                <a:solidFill>
                  <a:schemeClr val="accent2">
                    <a:lumMod val="75000"/>
                  </a:schemeClr>
                </a:solidFill>
              </a:rPr>
              <a:t>Sugar degradation</a:t>
            </a:r>
          </a:p>
          <a:p>
            <a:r>
              <a:rPr lang="en-US" sz="1340" b="1" dirty="0">
                <a:solidFill>
                  <a:srgbClr val="0070C0"/>
                </a:solidFill>
              </a:rPr>
              <a:t>Protein biosynthesis</a:t>
            </a:r>
          </a:p>
          <a:p>
            <a:r>
              <a:rPr lang="en-US" sz="1340" b="1" dirty="0">
                <a:solidFill>
                  <a:srgbClr val="7030A0"/>
                </a:solidFill>
              </a:rPr>
              <a:t>Cofactor biosynthesis</a:t>
            </a:r>
          </a:p>
          <a:p>
            <a:r>
              <a:rPr lang="en-US" sz="1340" b="1" dirty="0">
                <a:solidFill>
                  <a:srgbClr val="FF2F92"/>
                </a:solidFill>
              </a:rPr>
              <a:t>Antibiotic resistance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59305-1EA5-749F-2447-FDA0B5A01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664" y="1368943"/>
            <a:ext cx="6343589" cy="498001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FDF85B9-DDA9-F1EF-DDD0-1F243F700E15}"/>
              </a:ext>
            </a:extLst>
          </p:cNvPr>
          <p:cNvCxnSpPr>
            <a:cxnSpLocks/>
          </p:cNvCxnSpPr>
          <p:nvPr/>
        </p:nvCxnSpPr>
        <p:spPr>
          <a:xfrm>
            <a:off x="6677203" y="1603640"/>
            <a:ext cx="10972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A7FE46-FCFE-20B6-DC74-9F0F83CE2909}"/>
              </a:ext>
            </a:extLst>
          </p:cNvPr>
          <p:cNvCxnSpPr>
            <a:cxnSpLocks/>
          </p:cNvCxnSpPr>
          <p:nvPr/>
        </p:nvCxnSpPr>
        <p:spPr>
          <a:xfrm>
            <a:off x="6668059" y="1820048"/>
            <a:ext cx="1106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1FA153-E6EB-B570-0929-C1758D8A8787}"/>
              </a:ext>
            </a:extLst>
          </p:cNvPr>
          <p:cNvCxnSpPr>
            <a:cxnSpLocks/>
          </p:cNvCxnSpPr>
          <p:nvPr/>
        </p:nvCxnSpPr>
        <p:spPr>
          <a:xfrm>
            <a:off x="6668059" y="2009024"/>
            <a:ext cx="1106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D2AB7-2C96-21A3-C318-4549A04C1E23}"/>
              </a:ext>
            </a:extLst>
          </p:cNvPr>
          <p:cNvCxnSpPr>
            <a:cxnSpLocks/>
          </p:cNvCxnSpPr>
          <p:nvPr/>
        </p:nvCxnSpPr>
        <p:spPr>
          <a:xfrm>
            <a:off x="6657391" y="2204096"/>
            <a:ext cx="11170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D973E34-5BCA-101B-D54E-2FD99071C38B}"/>
              </a:ext>
            </a:extLst>
          </p:cNvPr>
          <p:cNvCxnSpPr>
            <a:cxnSpLocks/>
          </p:cNvCxnSpPr>
          <p:nvPr/>
        </p:nvCxnSpPr>
        <p:spPr>
          <a:xfrm>
            <a:off x="6687871" y="2429648"/>
            <a:ext cx="10957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8276D5-F793-DC99-6E0B-5AAD75C747EC}"/>
              </a:ext>
            </a:extLst>
          </p:cNvPr>
          <p:cNvCxnSpPr>
            <a:cxnSpLocks/>
          </p:cNvCxnSpPr>
          <p:nvPr/>
        </p:nvCxnSpPr>
        <p:spPr>
          <a:xfrm>
            <a:off x="6668059" y="2618624"/>
            <a:ext cx="10927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086EF9-8154-7237-34B1-98DE8815EF3E}"/>
              </a:ext>
            </a:extLst>
          </p:cNvPr>
          <p:cNvCxnSpPr>
            <a:cxnSpLocks/>
          </p:cNvCxnSpPr>
          <p:nvPr/>
        </p:nvCxnSpPr>
        <p:spPr>
          <a:xfrm>
            <a:off x="6657391" y="2822840"/>
            <a:ext cx="11033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22A9771-D93F-BBB9-8834-F30D9A7CC6E9}"/>
              </a:ext>
            </a:extLst>
          </p:cNvPr>
          <p:cNvCxnSpPr>
            <a:cxnSpLocks/>
          </p:cNvCxnSpPr>
          <p:nvPr/>
        </p:nvCxnSpPr>
        <p:spPr>
          <a:xfrm>
            <a:off x="6759499" y="3039248"/>
            <a:ext cx="9723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D129D82-899C-8D84-11FA-35D7E6CB380F}"/>
              </a:ext>
            </a:extLst>
          </p:cNvPr>
          <p:cNvCxnSpPr>
            <a:cxnSpLocks/>
          </p:cNvCxnSpPr>
          <p:nvPr/>
        </p:nvCxnSpPr>
        <p:spPr>
          <a:xfrm>
            <a:off x="6730543" y="3246512"/>
            <a:ext cx="9723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A38FD3-E313-F538-5498-2E19D9747300}"/>
              </a:ext>
            </a:extLst>
          </p:cNvPr>
          <p:cNvCxnSpPr>
            <a:cxnSpLocks/>
          </p:cNvCxnSpPr>
          <p:nvPr/>
        </p:nvCxnSpPr>
        <p:spPr>
          <a:xfrm>
            <a:off x="6965239" y="3670184"/>
            <a:ext cx="6949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55561C-0D9E-06F8-6DB7-6A5D8588F01A}"/>
              </a:ext>
            </a:extLst>
          </p:cNvPr>
          <p:cNvCxnSpPr>
            <a:cxnSpLocks/>
          </p:cNvCxnSpPr>
          <p:nvPr/>
        </p:nvCxnSpPr>
        <p:spPr>
          <a:xfrm>
            <a:off x="6975907" y="3868304"/>
            <a:ext cx="684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DC844BC-6824-D2B0-A2B7-F334E6D19CE6}"/>
              </a:ext>
            </a:extLst>
          </p:cNvPr>
          <p:cNvCxnSpPr>
            <a:cxnSpLocks/>
          </p:cNvCxnSpPr>
          <p:nvPr/>
        </p:nvCxnSpPr>
        <p:spPr>
          <a:xfrm>
            <a:off x="6975907" y="4066424"/>
            <a:ext cx="684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FCD4A3-3041-790E-5B45-1B76FCC98EC7}"/>
              </a:ext>
            </a:extLst>
          </p:cNvPr>
          <p:cNvCxnSpPr>
            <a:cxnSpLocks/>
          </p:cNvCxnSpPr>
          <p:nvPr/>
        </p:nvCxnSpPr>
        <p:spPr>
          <a:xfrm>
            <a:off x="6975907" y="4261496"/>
            <a:ext cx="684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C492E9-C578-D791-E602-FC6D9AFC381E}"/>
              </a:ext>
            </a:extLst>
          </p:cNvPr>
          <p:cNvCxnSpPr>
            <a:cxnSpLocks/>
          </p:cNvCxnSpPr>
          <p:nvPr/>
        </p:nvCxnSpPr>
        <p:spPr>
          <a:xfrm>
            <a:off x="6986575" y="4459616"/>
            <a:ext cx="6629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C602D5D-66DE-3964-D48D-02556BC21918}"/>
              </a:ext>
            </a:extLst>
          </p:cNvPr>
          <p:cNvCxnSpPr>
            <a:cxnSpLocks/>
          </p:cNvCxnSpPr>
          <p:nvPr/>
        </p:nvCxnSpPr>
        <p:spPr>
          <a:xfrm>
            <a:off x="6986575" y="4657736"/>
            <a:ext cx="6736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3947990-ACAB-4875-889D-5E93CE81D89E}"/>
              </a:ext>
            </a:extLst>
          </p:cNvPr>
          <p:cNvCxnSpPr/>
          <p:nvPr/>
        </p:nvCxnSpPr>
        <p:spPr>
          <a:xfrm>
            <a:off x="7073443" y="4861952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05C19A0-9340-271A-17E5-B2B60CAD2C6C}"/>
              </a:ext>
            </a:extLst>
          </p:cNvPr>
          <p:cNvCxnSpPr/>
          <p:nvPr/>
        </p:nvCxnSpPr>
        <p:spPr>
          <a:xfrm>
            <a:off x="7084111" y="5060072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B363FC-CB87-A981-91F7-A9281CE63849}"/>
              </a:ext>
            </a:extLst>
          </p:cNvPr>
          <p:cNvCxnSpPr/>
          <p:nvPr/>
        </p:nvCxnSpPr>
        <p:spPr>
          <a:xfrm>
            <a:off x="7084111" y="5258192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FB33FFD-E79D-6124-A62F-A6479993AC16}"/>
              </a:ext>
            </a:extLst>
          </p:cNvPr>
          <p:cNvCxnSpPr/>
          <p:nvPr/>
        </p:nvCxnSpPr>
        <p:spPr>
          <a:xfrm>
            <a:off x="7084111" y="5465456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CFFBA22-F353-8A23-0FCB-3265A8884EBE}"/>
              </a:ext>
            </a:extLst>
          </p:cNvPr>
          <p:cNvCxnSpPr>
            <a:cxnSpLocks/>
          </p:cNvCxnSpPr>
          <p:nvPr/>
        </p:nvCxnSpPr>
        <p:spPr>
          <a:xfrm>
            <a:off x="6752640" y="3448616"/>
            <a:ext cx="9662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0B1FDC4-A9F4-54AB-7FED-9749AC45B931}"/>
              </a:ext>
            </a:extLst>
          </p:cNvPr>
          <p:cNvSpPr txBox="1"/>
          <p:nvPr/>
        </p:nvSpPr>
        <p:spPr>
          <a:xfrm>
            <a:off x="6181420" y="6394661"/>
            <a:ext cx="1382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Healthy </a:t>
            </a:r>
            <a:r>
              <a:rPr lang="en-US" b="1" dirty="0" err="1"/>
              <a:t>ctrls</a:t>
            </a:r>
            <a:endParaRPr 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1BA74F-BDFD-28CF-41F6-C553B6F2B154}"/>
              </a:ext>
            </a:extLst>
          </p:cNvPr>
          <p:cNvSpPr txBox="1"/>
          <p:nvPr/>
        </p:nvSpPr>
        <p:spPr>
          <a:xfrm>
            <a:off x="4823643" y="6403512"/>
            <a:ext cx="1265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Parkinson’s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E20F02D-C94C-88AF-EE61-BC76130FBE0C}"/>
              </a:ext>
            </a:extLst>
          </p:cNvPr>
          <p:cNvCxnSpPr>
            <a:cxnSpLocks/>
          </p:cNvCxnSpPr>
          <p:nvPr/>
        </p:nvCxnSpPr>
        <p:spPr>
          <a:xfrm>
            <a:off x="6366653" y="6394661"/>
            <a:ext cx="964346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6CE916-6A0E-CBD6-67C1-B56932231368}"/>
              </a:ext>
            </a:extLst>
          </p:cNvPr>
          <p:cNvCxnSpPr>
            <a:cxnSpLocks/>
          </p:cNvCxnSpPr>
          <p:nvPr/>
        </p:nvCxnSpPr>
        <p:spPr>
          <a:xfrm flipH="1">
            <a:off x="5006195" y="6394661"/>
            <a:ext cx="108273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 7">
            <a:extLst>
              <a:ext uri="{FF2B5EF4-FFF2-40B4-BE49-F238E27FC236}">
                <a16:creationId xmlns:a16="http://schemas.microsoft.com/office/drawing/2014/main" id="{1FD1DAFD-25BB-B4A4-AF53-1D531F287898}"/>
              </a:ext>
            </a:extLst>
          </p:cNvPr>
          <p:cNvSpPr/>
          <p:nvPr/>
        </p:nvSpPr>
        <p:spPr>
          <a:xfrm>
            <a:off x="548640" y="6510528"/>
            <a:ext cx="9905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Sycuro Lab  |  University of Calgary  |  Gut microbiome &amp; Parkinson's disease</a:t>
            </a:r>
            <a:endParaRPr lang="en-US" sz="1000" dirty="0"/>
          </a:p>
        </p:txBody>
      </p:sp>
      <p:pic>
        <p:nvPicPr>
          <p:cNvPr id="36" name="Graphic 35" descr="Badge Tick with solid fill">
            <a:extLst>
              <a:ext uri="{FF2B5EF4-FFF2-40B4-BE49-F238E27FC236}">
                <a16:creationId xmlns:a16="http://schemas.microsoft.com/office/drawing/2014/main" id="{DA4A1CDB-F5F8-72D0-E640-3F32E9015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0586" y="3151343"/>
            <a:ext cx="313944" cy="313944"/>
          </a:xfrm>
          <a:prstGeom prst="rect">
            <a:avLst/>
          </a:prstGeom>
        </p:spPr>
      </p:pic>
      <p:pic>
        <p:nvPicPr>
          <p:cNvPr id="37" name="Graphic 36" descr="Badge Tick with solid fill">
            <a:extLst>
              <a:ext uri="{FF2B5EF4-FFF2-40B4-BE49-F238E27FC236}">
                <a16:creationId xmlns:a16="http://schemas.microsoft.com/office/drawing/2014/main" id="{A0FECDD7-EAE7-BFC6-DF7A-44C2881EDD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0026" y="1513236"/>
            <a:ext cx="313944" cy="313944"/>
          </a:xfrm>
          <a:prstGeom prst="rect">
            <a:avLst/>
          </a:prstGeom>
        </p:spPr>
      </p:pic>
      <p:pic>
        <p:nvPicPr>
          <p:cNvPr id="38" name="Graphic 37" descr="Badge Tick with solid fill">
            <a:extLst>
              <a:ext uri="{FF2B5EF4-FFF2-40B4-BE49-F238E27FC236}">
                <a16:creationId xmlns:a16="http://schemas.microsoft.com/office/drawing/2014/main" id="{48D6D677-8C81-89EB-EACD-36E5B6179B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82846" y="2336787"/>
            <a:ext cx="313944" cy="313944"/>
          </a:xfrm>
          <a:prstGeom prst="rect">
            <a:avLst/>
          </a:prstGeom>
        </p:spPr>
      </p:pic>
      <p:pic>
        <p:nvPicPr>
          <p:cNvPr id="39" name="Graphic 38" descr="Badge Tick with solid fill">
            <a:extLst>
              <a:ext uri="{FF2B5EF4-FFF2-40B4-BE49-F238E27FC236}">
                <a16:creationId xmlns:a16="http://schemas.microsoft.com/office/drawing/2014/main" id="{2743EAE3-444E-3647-3597-1C038067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8373" y="4789643"/>
            <a:ext cx="313944" cy="313944"/>
          </a:xfrm>
          <a:prstGeom prst="rect">
            <a:avLst/>
          </a:prstGeom>
        </p:spPr>
      </p:pic>
      <p:pic>
        <p:nvPicPr>
          <p:cNvPr id="40" name="Graphic 39" descr="Badge Tick with solid fill">
            <a:extLst>
              <a:ext uri="{FF2B5EF4-FFF2-40B4-BE49-F238E27FC236}">
                <a16:creationId xmlns:a16="http://schemas.microsoft.com/office/drawing/2014/main" id="{16575A5B-962B-A152-F143-E4C7A3485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06209" y="4393403"/>
            <a:ext cx="313944" cy="313944"/>
          </a:xfrm>
          <a:prstGeom prst="rect">
            <a:avLst/>
          </a:prstGeom>
        </p:spPr>
      </p:pic>
      <p:pic>
        <p:nvPicPr>
          <p:cNvPr id="41" name="Graphic 40" descr="Badge Tick with solid fill">
            <a:extLst>
              <a:ext uri="{FF2B5EF4-FFF2-40B4-BE49-F238E27FC236}">
                <a16:creationId xmlns:a16="http://schemas.microsoft.com/office/drawing/2014/main" id="{3744974C-D752-1118-BCEC-7208BC3408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8208" y="4136121"/>
            <a:ext cx="313944" cy="313944"/>
          </a:xfrm>
          <a:prstGeom prst="rect">
            <a:avLst/>
          </a:prstGeom>
        </p:spPr>
      </p:pic>
      <p:pic>
        <p:nvPicPr>
          <p:cNvPr id="42" name="Graphic 41" descr="Badge Tick with solid fill">
            <a:extLst>
              <a:ext uri="{FF2B5EF4-FFF2-40B4-BE49-F238E27FC236}">
                <a16:creationId xmlns:a16="http://schemas.microsoft.com/office/drawing/2014/main" id="{E52C6DFC-3EEF-C9B9-CFBD-5D48944BEF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8208" y="3858950"/>
            <a:ext cx="313944" cy="313944"/>
          </a:xfrm>
          <a:prstGeom prst="rect">
            <a:avLst/>
          </a:prstGeom>
        </p:spPr>
      </p:pic>
      <p:sp>
        <p:nvSpPr>
          <p:cNvPr id="43" name="Title 1">
            <a:extLst>
              <a:ext uri="{FF2B5EF4-FFF2-40B4-BE49-F238E27FC236}">
                <a16:creationId xmlns:a16="http://schemas.microsoft.com/office/drawing/2014/main" id="{02851594-198A-E866-D045-EDC880A80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3" y="66290"/>
            <a:ext cx="10515600" cy="1325563"/>
          </a:xfrm>
        </p:spPr>
        <p:txBody>
          <a:bodyPr/>
          <a:lstStyle/>
          <a:p>
            <a:r>
              <a:rPr lang="en-US" dirty="0"/>
              <a:t>Functional Enrichment</a:t>
            </a:r>
          </a:p>
        </p:txBody>
      </p:sp>
    </p:spTree>
    <p:extLst>
      <p:ext uri="{BB962C8B-B14F-4D97-AF65-F5344CB8AC3E}">
        <p14:creationId xmlns:p14="http://schemas.microsoft.com/office/powerpoint/2010/main" val="49808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6425-4D12-74F7-FA89-B635B2F29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Microbiome Networks in BC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7CDEF-6823-66C3-2DD6-579AB45D7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92232" cy="435133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Connections</a:t>
            </a:r>
            <a:r>
              <a:rPr lang="en-US" dirty="0"/>
              <a:t> show a significant association of co-occurring taxa</a:t>
            </a:r>
          </a:p>
          <a:p>
            <a:r>
              <a:rPr lang="en-US" b="1" dirty="0"/>
              <a:t>Betweenness centrality </a:t>
            </a:r>
            <a:r>
              <a:rPr lang="en-US" dirty="0"/>
              <a:t>(average number of taxa acting as a bridge between one another) is higher in HC</a:t>
            </a:r>
          </a:p>
          <a:p>
            <a:r>
              <a:rPr lang="en-US" b="1" dirty="0"/>
              <a:t>Closeness centrality </a:t>
            </a:r>
            <a:r>
              <a:rPr lang="en-US" dirty="0"/>
              <a:t>indicates how close a taxon is to the rest of the taxa</a:t>
            </a:r>
            <a:endParaRPr lang="en-US" b="1" dirty="0"/>
          </a:p>
          <a:p>
            <a:r>
              <a:rPr lang="en-US" dirty="0"/>
              <a:t>Avril Metcalfe </a:t>
            </a:r>
            <a:r>
              <a:rPr lang="en-US" i="1" dirty="0"/>
              <a:t>et al </a:t>
            </a:r>
            <a:r>
              <a:rPr lang="en-US" dirty="0"/>
              <a:t>showed evidence of </a:t>
            </a:r>
          </a:p>
          <a:p>
            <a:pPr lvl="1"/>
            <a:r>
              <a:rPr lang="en-US" dirty="0"/>
              <a:t>decreased connectivity in PD gut networks</a:t>
            </a:r>
          </a:p>
          <a:p>
            <a:pPr lvl="1"/>
            <a:r>
              <a:rPr lang="en-US" dirty="0"/>
              <a:t>Tighter clusters</a:t>
            </a:r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4" name="Picture 3" descr="Details are in the caption following the image">
            <a:extLst>
              <a:ext uri="{FF2B5EF4-FFF2-40B4-BE49-F238E27FC236}">
                <a16:creationId xmlns:a16="http://schemas.microsoft.com/office/drawing/2014/main" id="{604769F8-80FF-8DB6-B87E-778CD6A9D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51" y="2184400"/>
            <a:ext cx="6350000" cy="4673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97D0E2-ED50-78A7-C9AD-8B4150A84D61}"/>
              </a:ext>
            </a:extLst>
          </p:cNvPr>
          <p:cNvSpPr txBox="1"/>
          <p:nvPr/>
        </p:nvSpPr>
        <p:spPr>
          <a:xfrm>
            <a:off x="0" y="6627168"/>
            <a:ext cx="46105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https://</a:t>
            </a:r>
            <a:r>
              <a:rPr lang="en-US" sz="900" dirty="0" err="1"/>
              <a:t>journals.plos.org</a:t>
            </a:r>
            <a:r>
              <a:rPr lang="en-US" sz="900" dirty="0"/>
              <a:t>/</a:t>
            </a:r>
            <a:r>
              <a:rPr lang="en-US" sz="900" dirty="0" err="1"/>
              <a:t>ploscompbiol</a:t>
            </a:r>
            <a:r>
              <a:rPr lang="en-US" sz="900" dirty="0"/>
              <a:t>/</a:t>
            </a:r>
            <a:r>
              <a:rPr lang="en-US" sz="900" dirty="0" err="1"/>
              <a:t>article?id</a:t>
            </a:r>
            <a:r>
              <a:rPr lang="en-US" sz="900" dirty="0"/>
              <a:t>=10.1371/journal.pcbi.1004226#sec001</a:t>
            </a:r>
          </a:p>
        </p:txBody>
      </p:sp>
    </p:spTree>
    <p:extLst>
      <p:ext uri="{BB962C8B-B14F-4D97-AF65-F5344CB8AC3E}">
        <p14:creationId xmlns:p14="http://schemas.microsoft.com/office/powerpoint/2010/main" val="103732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5684F-9524-414B-ADBE-BAE7E0D73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80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8F9FBA-AF11-E292-08CA-719135E5B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09808"/>
            <a:ext cx="3999971" cy="168634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Microbiome Networks Differ by Connectivity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4057E0-0456-D900-004A-26589D97B3CB}"/>
              </a:ext>
            </a:extLst>
          </p:cNvPr>
          <p:cNvSpPr txBox="1"/>
          <p:nvPr/>
        </p:nvSpPr>
        <p:spPr>
          <a:xfrm>
            <a:off x="838199" y="2022364"/>
            <a:ext cx="3999971" cy="3707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Node = </a:t>
            </a:r>
            <a:r>
              <a:rPr lang="en-US" sz="2000" dirty="0"/>
              <a:t>Bacterial species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Edge = </a:t>
            </a:r>
            <a:r>
              <a:rPr lang="en-US" sz="2000" dirty="0"/>
              <a:t>Direct association between two bacterial species after accounting for the rest of the dataset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An edge means that the abundance in two taxa cannot be explained by the rest of the community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Distance = </a:t>
            </a:r>
            <a:r>
              <a:rPr lang="en-US" sz="2000" dirty="0"/>
              <a:t>Number of nodes a species needs to traverse in order to reach another taxon</a:t>
            </a:r>
            <a:endParaRPr lang="en-US" sz="2000" b="1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b="1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3816F20-BB94-8BBA-2ABE-ECD3415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104" y="83951"/>
            <a:ext cx="2120766" cy="2534574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8D5A1124-FA0F-20EF-605B-2C94FDC93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895" y="214272"/>
            <a:ext cx="2120766" cy="2273932"/>
          </a:xfrm>
          <a:prstGeom prst="rect">
            <a:avLst/>
          </a:prstGeom>
        </p:spPr>
      </p:pic>
      <p:pic>
        <p:nvPicPr>
          <p:cNvPr id="60" name="Content Placeholder 59">
            <a:extLst>
              <a:ext uri="{FF2B5EF4-FFF2-40B4-BE49-F238E27FC236}">
                <a16:creationId xmlns:a16="http://schemas.microsoft.com/office/drawing/2014/main" id="{963C889F-37F1-18C4-33F8-D7F6243121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 l="4581" t="9597" r="84412" b="63563"/>
          <a:stretch>
            <a:fillRect/>
          </a:stretch>
        </p:blipFill>
        <p:spPr>
          <a:xfrm>
            <a:off x="4838171" y="3256123"/>
            <a:ext cx="1483757" cy="2071340"/>
          </a:xfrm>
          <a:prstGeom prst="rect">
            <a:avLst/>
          </a:prstGeom>
        </p:spPr>
      </p:pic>
      <p:pic>
        <p:nvPicPr>
          <p:cNvPr id="64" name="Content Placeholder 59">
            <a:extLst>
              <a:ext uri="{FF2B5EF4-FFF2-40B4-BE49-F238E27FC236}">
                <a16:creationId xmlns:a16="http://schemas.microsoft.com/office/drawing/2014/main" id="{CE9BE176-EB82-6690-95BB-DD33EB2AA9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380" r="26798" b="14044"/>
          <a:stretch>
            <a:fillRect/>
          </a:stretch>
        </p:blipFill>
        <p:spPr>
          <a:xfrm>
            <a:off x="9317319" y="2618525"/>
            <a:ext cx="2820832" cy="324161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55C4BD3-7C8E-1399-386C-43589CDD7E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0169" t="1237" r="27033" b="13964"/>
          <a:stretch>
            <a:fillRect/>
          </a:stretch>
        </p:blipFill>
        <p:spPr>
          <a:xfrm>
            <a:off x="6321928" y="2571226"/>
            <a:ext cx="2820832" cy="3199776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613FD766-706D-E282-7FD5-F2D05797FE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4661" y="83951"/>
            <a:ext cx="2344522" cy="245485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45B03579-1521-E379-6CF4-2106916B9E88}"/>
              </a:ext>
            </a:extLst>
          </p:cNvPr>
          <p:cNvSpPr txBox="1"/>
          <p:nvPr/>
        </p:nvSpPr>
        <p:spPr>
          <a:xfrm>
            <a:off x="117695" y="5855112"/>
            <a:ext cx="10248523" cy="9187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800" dirty="0"/>
              <a:t>PD network shows a more densely connected microbial network, with more species linked by direct associations and shorter paths.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800" dirty="0"/>
              <a:t>HC network shows dependency on a small number of connector species</a:t>
            </a:r>
          </a:p>
        </p:txBody>
      </p:sp>
    </p:spTree>
    <p:extLst>
      <p:ext uri="{BB962C8B-B14F-4D97-AF65-F5344CB8AC3E}">
        <p14:creationId xmlns:p14="http://schemas.microsoft.com/office/powerpoint/2010/main" val="252301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ANCOM-BC2 corrects systematic sampling-fraction bias</a:t>
            </a:r>
            <a:endParaRPr lang="en-US" sz="3300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53619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78992" y="15087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assumption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078992" y="1856232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taxa have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absolute abundance in both groups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null majority is what makes the bias identifiable</a:t>
            </a:r>
            <a:endParaRPr lang="en-US" sz="1600" dirty="0">
              <a:solidFill>
                <a:srgbClr val="93AF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308152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estimates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078992" y="342900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log-fold change per taxon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 absolute — not relative — abundance. It starts from compositional data, fits one coefficient per taxon,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locates δ 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covariate using a maximum likelihood estimate.</a:t>
            </a:r>
            <a:endParaRPr lang="en-US" sz="1600" dirty="0">
              <a:solidFill>
                <a:srgbClr val="93AFB8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68172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4681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78992" y="465429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bias “systematic”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78992" y="5001768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is the part of the sampling fraction that correlates with a covariate. There is a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sampling-fraction bias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is corrected for.</a:t>
            </a:r>
            <a:endParaRPr lang="en-US" sz="1600" dirty="0">
              <a:solidFill>
                <a:srgbClr val="93AFB8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720840" y="1508760"/>
            <a:ext cx="4892040" cy="4709160"/>
          </a:xfrm>
          <a:prstGeom prst="roundRect">
            <a:avLst>
              <a:gd name="adj" fmla="val 2330"/>
            </a:avLst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0880" y="17373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δ ≠ 0 in Parkinson’s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04088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64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→ constipation → drier stool → more cells per gram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7040880" y="2697480"/>
          <a:ext cx="4297680" cy="13167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Microbial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1×10¹¹ /g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2×10¹¹ /g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mapped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 fraction 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2×10⁻⁵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1×10⁻⁵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040880" y="43434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64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δ_group = ln(0.5) = −0.693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7040880" y="48920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sequencing, half the sampling fraction. Every taxon looks ~50% depleted in PD — before any biology happened.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040880" y="57150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results on diff_ AND passed_ss_.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7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MaAsLin 2 models relative abundance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47472" cy="34747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78992" y="15727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078992" y="1901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linear model fit per taxon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fixed and random effects, BH-corrected across taxa. Flexible: continuous and categorical covariates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3145536"/>
            <a:ext cx="347472" cy="34747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3145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8992" y="31272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escape compositionality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1078992" y="345643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TSS produces proportions — that is compositional data. Normalization is a scale model carrying an implicit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assumption: constant microbial load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systematic sampling bias correction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4700016"/>
            <a:ext cx="347472" cy="34747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4700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46817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answered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078992" y="501091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adjusting for age, sex and site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what is the linear effect of group on the log₂ relative abundance of taxon i?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estimand is share of the community — not how much is there.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693408" y="1572768"/>
            <a:ext cx="4919472" cy="4663440"/>
          </a:xfrm>
          <a:prstGeom prst="roundRect">
            <a:avLst>
              <a:gd name="adj" fmla="val 1961"/>
            </a:avLst>
          </a:prstGeom>
          <a:solidFill>
            <a:srgbClr val="163B47"/>
          </a:solidFill>
          <a:ln w="12700">
            <a:solidFill>
              <a:srgbClr val="163B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02259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2259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99832" y="18288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7415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7415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51392" y="18288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12571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2571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902952" y="18288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17727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17727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022592" y="25146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coefficient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7022592" y="28346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 = 0.85 for group, with TSS + LOG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22592" y="31272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2^0.85 = 1.8×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022592" y="37033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vulgatus</a:t>
            </a:r>
            <a:r>
              <a:rPr lang="en-US" sz="12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takes up ~80% more of the community in PD after adjusting for covariates. i.e. For every BMI unit of 1, there is an increase of 0.80 of </a:t>
            </a:r>
            <a:r>
              <a:rPr lang="en-US" sz="1200" i="1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</a:t>
            </a:r>
            <a:r>
              <a:rPr lang="en-US" sz="1200" i="1" dirty="0" err="1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vulgatus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022592" y="4626864"/>
            <a:ext cx="4297680" cy="1371600"/>
          </a:xfrm>
          <a:prstGeom prst="roundRect">
            <a:avLst>
              <a:gd name="adj" fmla="val 4667"/>
            </a:avLst>
          </a:prstGeom>
          <a:solidFill>
            <a:srgbClr val="3A2024"/>
          </a:solidFill>
          <a:ln w="12700">
            <a:solidFill>
              <a:srgbClr val="3A20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47914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interpret the covariate coefficients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223760" y="508406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model built to estimate the group effect, the coefficient for BMI or age is not the causal effect of BMI or age. 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62003-45D8-1EC5-E5B0-8D57F994E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295D7E-6DF6-F6AA-A1D4-329281FB7972}"/>
              </a:ext>
            </a:extLst>
          </p:cNvPr>
          <p:cNvSpPr txBox="1"/>
          <p:nvPr/>
        </p:nvSpPr>
        <p:spPr>
          <a:xfrm>
            <a:off x="8229789" y="6249813"/>
            <a:ext cx="1523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ANCOM-BC2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6F871-C29C-123E-3192-3C0D77855CE7}"/>
              </a:ext>
            </a:extLst>
          </p:cNvPr>
          <p:cNvSpPr txBox="1"/>
          <p:nvPr/>
        </p:nvSpPr>
        <p:spPr>
          <a:xfrm>
            <a:off x="2670232" y="6249813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Maaslin2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DE9EDE-81ED-C2EA-F133-CF7A9D4E6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02909"/>
            <a:ext cx="5791200" cy="43053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FECA29-9F70-7EDF-32A4-ED43B7A79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81" y="1627013"/>
            <a:ext cx="539750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73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CC473-2DA0-B031-CA0A-172ED1DF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Enrichment after Age Covariate Adjustment Yields Similar Enrichment Profiles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3F92A2-15D6-1D68-384B-AD92655E9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70831"/>
            <a:ext cx="5473700" cy="4305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05F025-1574-7B1A-B903-26C24B35F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900" y="1970831"/>
            <a:ext cx="5791200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75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56CEC-9E2B-28A4-D784-61B6317E5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YYC vs YVR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7D0648-9C35-C059-FEDC-481A5617B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1" y="1604340"/>
            <a:ext cx="5473700" cy="4419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424AA9-64AA-3F8C-0BB2-E6B24C07B707}"/>
              </a:ext>
            </a:extLst>
          </p:cNvPr>
          <p:cNvSpPr txBox="1"/>
          <p:nvPr/>
        </p:nvSpPr>
        <p:spPr>
          <a:xfrm>
            <a:off x="8616999" y="5966790"/>
            <a:ext cx="988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Calgary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BF41B0-32A1-81F9-D4F9-CCFCC73FD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605" y="1661490"/>
            <a:ext cx="5791200" cy="4305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C72FAE-2D15-0B28-15D0-B82192EDF67F}"/>
              </a:ext>
            </a:extLst>
          </p:cNvPr>
          <p:cNvSpPr txBox="1"/>
          <p:nvPr/>
        </p:nvSpPr>
        <p:spPr>
          <a:xfrm>
            <a:off x="2560145" y="5966790"/>
            <a:ext cx="1293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Vancouver</a:t>
            </a:r>
          </a:p>
        </p:txBody>
      </p:sp>
    </p:spTree>
    <p:extLst>
      <p:ext uri="{BB962C8B-B14F-4D97-AF65-F5344CB8AC3E}">
        <p14:creationId xmlns:p14="http://schemas.microsoft.com/office/powerpoint/2010/main" val="143599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5EA54-2D67-9B70-C087-B7DC766D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taxa are different amongst the differences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1D4ADA-EB71-5C9F-DA42-A830AD69932C}"/>
              </a:ext>
            </a:extLst>
          </p:cNvPr>
          <p:cNvSpPr txBox="1"/>
          <p:nvPr/>
        </p:nvSpPr>
        <p:spPr>
          <a:xfrm>
            <a:off x="312516" y="2505670"/>
            <a:ext cx="28705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Previous models are linear:</a:t>
            </a:r>
          </a:p>
          <a:p>
            <a:endParaRPr lang="en-US" dirty="0"/>
          </a:p>
          <a:p>
            <a:r>
              <a:rPr lang="en-US" dirty="0"/>
              <a:t>Model with interaction: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40D0736-1A3B-EB7D-FDAA-7563497D188B}"/>
                  </a:ext>
                </a:extLst>
              </p:cNvPr>
              <p:cNvSpPr txBox="1"/>
              <p:nvPr/>
            </p:nvSpPr>
            <p:spPr>
              <a:xfrm>
                <a:off x="312516" y="3596585"/>
                <a:ext cx="4934171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ß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𝐺𝐿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𝑃𝐷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𝑉𝑎𝑛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𝑃𝐷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𝐶𝑎𝑙</m:t>
                              </m:r>
                            </m:sub>
                          </m:sSub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µ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𝐻𝐶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𝑉𝑎𝑛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µ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𝐻𝐶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𝐶𝑎𝑙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40D0736-1A3B-EB7D-FDAA-7563497D1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16" y="3596585"/>
                <a:ext cx="4934171" cy="312650"/>
              </a:xfrm>
              <a:prstGeom prst="rect">
                <a:avLst/>
              </a:prstGeom>
              <a:blipFill>
                <a:blip r:embed="rId2"/>
                <a:stretch>
                  <a:fillRect r="-256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9382742-2A29-7B2F-2BCD-588085B7E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936" y="2361235"/>
            <a:ext cx="6007100" cy="4254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642DA5-B3FD-3663-B5F8-01C657D4FA88}"/>
              </a:ext>
            </a:extLst>
          </p:cNvPr>
          <p:cNvSpPr txBox="1"/>
          <p:nvPr/>
        </p:nvSpPr>
        <p:spPr>
          <a:xfrm>
            <a:off x="324091" y="5046562"/>
            <a:ext cx="421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disease effect is larger in Calgary for </a:t>
            </a:r>
          </a:p>
          <a:p>
            <a:r>
              <a:rPr lang="en-US" i="1" dirty="0"/>
              <a:t>E. coli</a:t>
            </a:r>
          </a:p>
        </p:txBody>
      </p:sp>
    </p:spTree>
    <p:extLst>
      <p:ext uri="{BB962C8B-B14F-4D97-AF65-F5344CB8AC3E}">
        <p14:creationId xmlns:p14="http://schemas.microsoft.com/office/powerpoint/2010/main" val="9527927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3DFE7-8BF7-0B98-D8A2-570A7008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19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D32A7E-3CC8-7865-B913-42AAD9664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643293"/>
              </p:ext>
            </p:extLst>
          </p:nvPr>
        </p:nvGraphicFramePr>
        <p:xfrm>
          <a:off x="838200" y="1536579"/>
          <a:ext cx="8341567" cy="1866133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2013919">
                  <a:extLst>
                    <a:ext uri="{9D8B030D-6E8A-4147-A177-3AD203B41FA5}">
                      <a16:colId xmlns:a16="http://schemas.microsoft.com/office/drawing/2014/main" val="2163227398"/>
                    </a:ext>
                  </a:extLst>
                </a:gridCol>
                <a:gridCol w="3293458">
                  <a:extLst>
                    <a:ext uri="{9D8B030D-6E8A-4147-A177-3AD203B41FA5}">
                      <a16:colId xmlns:a16="http://schemas.microsoft.com/office/drawing/2014/main" val="1022966802"/>
                    </a:ext>
                  </a:extLst>
                </a:gridCol>
                <a:gridCol w="2205385">
                  <a:extLst>
                    <a:ext uri="{9D8B030D-6E8A-4147-A177-3AD203B41FA5}">
                      <a16:colId xmlns:a16="http://schemas.microsoft.com/office/drawing/2014/main" val="1202993496"/>
                    </a:ext>
                  </a:extLst>
                </a:gridCol>
                <a:gridCol w="828805">
                  <a:extLst>
                    <a:ext uri="{9D8B030D-6E8A-4147-A177-3AD203B41FA5}">
                      <a16:colId xmlns:a16="http://schemas.microsoft.com/office/drawing/2014/main" val="1095864826"/>
                    </a:ext>
                  </a:extLst>
                </a:gridCol>
              </a:tblGrid>
              <a:tr h="26669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PD Patients (n = 125)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Healthy 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ctrls</a:t>
                      </a: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 (n = 59)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p-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val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212646400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Demographics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32175705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Age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68 ± 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67.5 ± 10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0.78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180151854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Sex (%M,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61.6% (77)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39 % (23)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0.004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39987404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BMI (kg/m2)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26.3 ± 5.5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27.2 ± 5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0.27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881484179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Lifestyle factors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233821406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PASE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120 ± 68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138.1 ± 57.1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0.008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6855429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02913CA-72BA-2A13-8856-523FBB306C10}"/>
              </a:ext>
            </a:extLst>
          </p:cNvPr>
          <p:cNvSpPr txBox="1"/>
          <p:nvPr/>
        </p:nvSpPr>
        <p:spPr>
          <a:xfrm>
            <a:off x="9789276" y="3085951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Diagnosis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EC49D7D-D250-873B-2353-A053CA7C3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2461" y="1407910"/>
            <a:ext cx="2471026" cy="17536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E9D3A68-BBF5-425A-A440-BD87CFAA0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235" y="3520983"/>
            <a:ext cx="2425399" cy="2495497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8F3302A2-4779-E720-FEDB-630959B51B34}"/>
              </a:ext>
            </a:extLst>
          </p:cNvPr>
          <p:cNvSpPr/>
          <p:nvPr/>
        </p:nvSpPr>
        <p:spPr>
          <a:xfrm>
            <a:off x="8402527" y="2349060"/>
            <a:ext cx="777240" cy="2377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CDCBFEA-B974-4C9E-997E-BE91D2250BAB}"/>
              </a:ext>
            </a:extLst>
          </p:cNvPr>
          <p:cNvSpPr/>
          <p:nvPr/>
        </p:nvSpPr>
        <p:spPr>
          <a:xfrm>
            <a:off x="8415820" y="3161541"/>
            <a:ext cx="777240" cy="2377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A15B53F-5D60-BBF8-E7F8-8B2A72B48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168" y="3910501"/>
            <a:ext cx="3786124" cy="203948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2DA4B9D-3999-410F-6CD7-BBE228474DCF}"/>
              </a:ext>
            </a:extLst>
          </p:cNvPr>
          <p:cNvSpPr txBox="1"/>
          <p:nvPr/>
        </p:nvSpPr>
        <p:spPr>
          <a:xfrm>
            <a:off x="686124" y="5915937"/>
            <a:ext cx="194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Diagnosis AND sex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6EBE07-BBBC-C83F-1351-53B876A186F5}"/>
              </a:ext>
            </a:extLst>
          </p:cNvPr>
          <p:cNvSpPr txBox="1"/>
          <p:nvPr/>
        </p:nvSpPr>
        <p:spPr>
          <a:xfrm>
            <a:off x="5491004" y="6074704"/>
            <a:ext cx="2257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Physical activity score</a:t>
            </a: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05E46994-DBCE-AA80-3573-9BEE19C7EBA8}"/>
              </a:ext>
            </a:extLst>
          </p:cNvPr>
          <p:cNvSpPr/>
          <p:nvPr/>
        </p:nvSpPr>
        <p:spPr>
          <a:xfrm>
            <a:off x="548640" y="6510528"/>
            <a:ext cx="9905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Sycuro Lab  |  University of Calgary  |  Gut microbiome &amp; Parkinson's disease</a:t>
            </a:r>
            <a:endParaRPr lang="en-US" sz="1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89EE8E5-405B-69F1-B16F-9869EF17A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Differences</a:t>
            </a:r>
          </a:p>
        </p:txBody>
      </p:sp>
    </p:spTree>
    <p:extLst>
      <p:ext uri="{BB962C8B-B14F-4D97-AF65-F5344CB8AC3E}">
        <p14:creationId xmlns:p14="http://schemas.microsoft.com/office/powerpoint/2010/main" val="4366257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BEC2C-18FC-DE0F-3B72-E3830948F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20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6A5E0E8-647E-B43B-B50C-869F75D05B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104815"/>
              </p:ext>
            </p:extLst>
          </p:nvPr>
        </p:nvGraphicFramePr>
        <p:xfrm>
          <a:off x="904230" y="1736778"/>
          <a:ext cx="8341566" cy="1332865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4">
                  <a:extLst>
                    <a:ext uri="{9D8B030D-6E8A-4147-A177-3AD203B41FA5}">
                      <a16:colId xmlns:a16="http://schemas.microsoft.com/office/drawing/2014/main" val="2857046174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1546877260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1144972552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3026023291"/>
                    </a:ext>
                  </a:extLst>
                </a:gridCol>
              </a:tblGrid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Medical history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896620601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PD age at onset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63 ± 9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351380845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Functional constipation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25.6% (32)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3.5% (2)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0.0002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133113510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IBS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90.8% (109)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72.9% (43)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0.003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885324079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     IBS Symptom severity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88.3 ± 62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65.4 ± 59.6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0.01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04934104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8E167C-966D-60A2-EC0F-FDE5ED7E42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032998"/>
              </p:ext>
            </p:extLst>
          </p:nvPr>
        </p:nvGraphicFramePr>
        <p:xfrm>
          <a:off x="904230" y="3066788"/>
          <a:ext cx="8341566" cy="813562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4">
                  <a:extLst>
                    <a:ext uri="{9D8B030D-6E8A-4147-A177-3AD203B41FA5}">
                      <a16:colId xmlns:a16="http://schemas.microsoft.com/office/drawing/2014/main" val="3532382795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1570132288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1640643657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2755795958"/>
                    </a:ext>
                  </a:extLst>
                </a:gridCol>
              </a:tblGrid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Treatment and supplements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607139332"/>
                  </a:ext>
                </a:extLst>
              </a:tr>
              <a:tr h="2666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Benzodiazepines and sleeping-inducing medication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12% (15)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1.7% (1)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0.02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336788588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96648EB-46D5-1C7F-4683-F49D928CF4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59450"/>
              </p:ext>
            </p:extLst>
          </p:nvPr>
        </p:nvGraphicFramePr>
        <p:xfrm>
          <a:off x="904229" y="1464015"/>
          <a:ext cx="8341567" cy="266695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8980">
                  <a:extLst>
                    <a:ext uri="{9D8B030D-6E8A-4147-A177-3AD203B41FA5}">
                      <a16:colId xmlns:a16="http://schemas.microsoft.com/office/drawing/2014/main" val="2163227398"/>
                    </a:ext>
                  </a:extLst>
                </a:gridCol>
                <a:gridCol w="2148397">
                  <a:extLst>
                    <a:ext uri="{9D8B030D-6E8A-4147-A177-3AD203B41FA5}">
                      <a16:colId xmlns:a16="http://schemas.microsoft.com/office/drawing/2014/main" val="1022966802"/>
                    </a:ext>
                  </a:extLst>
                </a:gridCol>
                <a:gridCol w="2205385">
                  <a:extLst>
                    <a:ext uri="{9D8B030D-6E8A-4147-A177-3AD203B41FA5}">
                      <a16:colId xmlns:a16="http://schemas.microsoft.com/office/drawing/2014/main" val="1202993496"/>
                    </a:ext>
                  </a:extLst>
                </a:gridCol>
                <a:gridCol w="828805">
                  <a:extLst>
                    <a:ext uri="{9D8B030D-6E8A-4147-A177-3AD203B41FA5}">
                      <a16:colId xmlns:a16="http://schemas.microsoft.com/office/drawing/2014/main" val="1095864826"/>
                    </a:ext>
                  </a:extLst>
                </a:gridCol>
              </a:tblGrid>
              <a:tr h="26669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PD Patients (n = 125)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Healthy 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ctrls</a:t>
                      </a: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 (n = 59)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p-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val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212646400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68EDD25-D2DC-6770-1386-AFA529E46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229" y="4616950"/>
            <a:ext cx="4318000" cy="21590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04D912B6-44B4-AE6A-E5CE-D16B2B8A6090}"/>
              </a:ext>
            </a:extLst>
          </p:cNvPr>
          <p:cNvSpPr/>
          <p:nvPr/>
        </p:nvSpPr>
        <p:spPr>
          <a:xfrm>
            <a:off x="8439582" y="2267850"/>
            <a:ext cx="777240" cy="27241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70EB84-5CFC-0E0A-690A-BF0C6182C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18" y="4616950"/>
            <a:ext cx="4318000" cy="215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D17994-35DA-F459-ED3E-3A65EFE70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8572" y="1409139"/>
            <a:ext cx="2852461" cy="2786432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683DCECD-6A72-8363-A298-9D287ADEDB02}"/>
              </a:ext>
            </a:extLst>
          </p:cNvPr>
          <p:cNvSpPr/>
          <p:nvPr/>
        </p:nvSpPr>
        <p:spPr>
          <a:xfrm>
            <a:off x="8446665" y="2532686"/>
            <a:ext cx="777240" cy="52062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16D615-E041-53D5-1A47-0E9E09410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590158"/>
              </p:ext>
            </p:extLst>
          </p:nvPr>
        </p:nvGraphicFramePr>
        <p:xfrm>
          <a:off x="904229" y="3879199"/>
          <a:ext cx="8341565" cy="266573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3">
                  <a:extLst>
                    <a:ext uri="{9D8B030D-6E8A-4147-A177-3AD203B41FA5}">
                      <a16:colId xmlns:a16="http://schemas.microsoft.com/office/drawing/2014/main" val="2260049527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2926598071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501679428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83923063"/>
                    </a:ext>
                  </a:extLst>
                </a:gridCol>
              </a:tblGrid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Laxatives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12.4% (14)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1.7% (1)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0.02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792180431"/>
                  </a:ext>
                </a:extLst>
              </a:tr>
            </a:tbl>
          </a:graphicData>
        </a:graphic>
      </p:graphicFrame>
      <p:sp>
        <p:nvSpPr>
          <p:cNvPr id="20" name="Text 7">
            <a:extLst>
              <a:ext uri="{FF2B5EF4-FFF2-40B4-BE49-F238E27FC236}">
                <a16:creationId xmlns:a16="http://schemas.microsoft.com/office/drawing/2014/main" id="{41ACC435-9810-C0D1-30D2-8A7E85D3E18B}"/>
              </a:ext>
            </a:extLst>
          </p:cNvPr>
          <p:cNvSpPr/>
          <p:nvPr/>
        </p:nvSpPr>
        <p:spPr>
          <a:xfrm>
            <a:off x="548640" y="6510528"/>
            <a:ext cx="9905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Sycuro Lab  |  University of Calgary  |  Gut microbiome &amp; Parkinson's disease</a:t>
            </a:r>
            <a:endParaRPr lang="en-US" sz="10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BFC3E3B-0F2B-E154-13C3-C6C6AA25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Differences (cont’d)</a:t>
            </a:r>
          </a:p>
        </p:txBody>
      </p:sp>
    </p:spTree>
    <p:extLst>
      <p:ext uri="{BB962C8B-B14F-4D97-AF65-F5344CB8AC3E}">
        <p14:creationId xmlns:p14="http://schemas.microsoft.com/office/powerpoint/2010/main" val="4119666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27475F-D4AD-2B87-6D6C-9DB50DB80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259490"/>
              </p:ext>
            </p:extLst>
          </p:nvPr>
        </p:nvGraphicFramePr>
        <p:xfrm>
          <a:off x="644689" y="2047229"/>
          <a:ext cx="8341565" cy="2932303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3">
                  <a:extLst>
                    <a:ext uri="{9D8B030D-6E8A-4147-A177-3AD203B41FA5}">
                      <a16:colId xmlns:a16="http://schemas.microsoft.com/office/drawing/2014/main" val="1522783066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465786088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3299195015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2759115607"/>
                    </a:ext>
                  </a:extLst>
                </a:gridCol>
              </a:tblGrid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Disease-associated features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3256191158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MDS-UPDRS part 1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9 ± 6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270957114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MDS-UPDRS part 2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14.8 ± 10.3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807619899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MDS-UPDRS part 3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27.4 ± 16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502510037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Tremor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4.5 ± 4.9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573861599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     Akinesia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16.5 ± 10.5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788878625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H &amp; Y stage (PD progression)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2.2 ± 0.6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216871701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MDS-UPDRS part 4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5.1 ± 3.8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52905310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Dyskinesia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0.8 ± 1.3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148027197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     Motor fluctuation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3.7 ± 2.8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637318462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Painful dystonia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0.5 ± 0.8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45853756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E9167FB-1DCA-AE33-8421-E1EF40A1B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506158"/>
              </p:ext>
            </p:extLst>
          </p:nvPr>
        </p:nvGraphicFramePr>
        <p:xfrm>
          <a:off x="644689" y="1780534"/>
          <a:ext cx="8341567" cy="266695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8980">
                  <a:extLst>
                    <a:ext uri="{9D8B030D-6E8A-4147-A177-3AD203B41FA5}">
                      <a16:colId xmlns:a16="http://schemas.microsoft.com/office/drawing/2014/main" val="383852007"/>
                    </a:ext>
                  </a:extLst>
                </a:gridCol>
                <a:gridCol w="2148397">
                  <a:extLst>
                    <a:ext uri="{9D8B030D-6E8A-4147-A177-3AD203B41FA5}">
                      <a16:colId xmlns:a16="http://schemas.microsoft.com/office/drawing/2014/main" val="2716897528"/>
                    </a:ext>
                  </a:extLst>
                </a:gridCol>
                <a:gridCol w="2205385">
                  <a:extLst>
                    <a:ext uri="{9D8B030D-6E8A-4147-A177-3AD203B41FA5}">
                      <a16:colId xmlns:a16="http://schemas.microsoft.com/office/drawing/2014/main" val="540513025"/>
                    </a:ext>
                  </a:extLst>
                </a:gridCol>
                <a:gridCol w="828805">
                  <a:extLst>
                    <a:ext uri="{9D8B030D-6E8A-4147-A177-3AD203B41FA5}">
                      <a16:colId xmlns:a16="http://schemas.microsoft.com/office/drawing/2014/main" val="258271958"/>
                    </a:ext>
                  </a:extLst>
                </a:gridCol>
              </a:tblGrid>
              <a:tr h="26669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PD Patients (n = 125)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Healthy 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ctrls</a:t>
                      </a: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 (n = 59)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p-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val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494241732"/>
                  </a:ext>
                </a:extLst>
              </a:tr>
            </a:tbl>
          </a:graphicData>
        </a:graphic>
      </p:graphicFrame>
      <p:sp>
        <p:nvSpPr>
          <p:cNvPr id="7" name="Right Arrow 6">
            <a:extLst>
              <a:ext uri="{FF2B5EF4-FFF2-40B4-BE49-F238E27FC236}">
                <a16:creationId xmlns:a16="http://schemas.microsoft.com/office/drawing/2014/main" id="{1DE71092-FCAF-8E1F-8E37-BFADAAEB5929}"/>
              </a:ext>
            </a:extLst>
          </p:cNvPr>
          <p:cNvSpPr/>
          <p:nvPr/>
        </p:nvSpPr>
        <p:spPr>
          <a:xfrm>
            <a:off x="9062318" y="2371915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C98E7-EA90-123A-C070-83D0FDADD7D2}"/>
              </a:ext>
            </a:extLst>
          </p:cNvPr>
          <p:cNvSpPr txBox="1"/>
          <p:nvPr/>
        </p:nvSpPr>
        <p:spPr>
          <a:xfrm>
            <a:off x="562628" y="5723441"/>
            <a:ext cx="6624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MDS-UPDRS: </a:t>
            </a:r>
            <a:r>
              <a:rPr lang="en-US" dirty="0"/>
              <a:t>Movement Disorder Society-Sponsored Revision of the </a:t>
            </a:r>
          </a:p>
          <a:p>
            <a:r>
              <a:rPr lang="en-US" dirty="0"/>
              <a:t>Unified Parkinson’s Disease Rating Scale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9D893C-FB37-906C-5310-10B4CE2D81E2}"/>
              </a:ext>
            </a:extLst>
          </p:cNvPr>
          <p:cNvSpPr txBox="1"/>
          <p:nvPr/>
        </p:nvSpPr>
        <p:spPr>
          <a:xfrm>
            <a:off x="9389075" y="2264973"/>
            <a:ext cx="2272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Non-motor daily living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96E65D1C-9B37-7810-D5BE-5902C022BAA8}"/>
              </a:ext>
            </a:extLst>
          </p:cNvPr>
          <p:cNvSpPr/>
          <p:nvPr/>
        </p:nvSpPr>
        <p:spPr>
          <a:xfrm>
            <a:off x="9062318" y="2663523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2865E-0038-858D-0D12-3951C4D570BA}"/>
              </a:ext>
            </a:extLst>
          </p:cNvPr>
          <p:cNvSpPr txBox="1"/>
          <p:nvPr/>
        </p:nvSpPr>
        <p:spPr>
          <a:xfrm>
            <a:off x="9389075" y="2556581"/>
            <a:ext cx="1822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daily living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069F9631-AB7A-D097-B976-8D165CEC0625}"/>
              </a:ext>
            </a:extLst>
          </p:cNvPr>
          <p:cNvSpPr/>
          <p:nvPr/>
        </p:nvSpPr>
        <p:spPr>
          <a:xfrm>
            <a:off x="9062318" y="2955131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5A779F-3F9A-5E3D-D5C2-C0E19637A991}"/>
              </a:ext>
            </a:extLst>
          </p:cNvPr>
          <p:cNvSpPr txBox="1"/>
          <p:nvPr/>
        </p:nvSpPr>
        <p:spPr>
          <a:xfrm>
            <a:off x="9389075" y="2848189"/>
            <a:ext cx="1335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exam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F3B67373-622D-1CA9-6D7F-13B58E89A95B}"/>
              </a:ext>
            </a:extLst>
          </p:cNvPr>
          <p:cNvSpPr/>
          <p:nvPr/>
        </p:nvSpPr>
        <p:spPr>
          <a:xfrm>
            <a:off x="9062318" y="3983165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654108-446B-B9E8-EA96-94C721CA249B}"/>
              </a:ext>
            </a:extLst>
          </p:cNvPr>
          <p:cNvSpPr txBox="1"/>
          <p:nvPr/>
        </p:nvSpPr>
        <p:spPr>
          <a:xfrm>
            <a:off x="9389075" y="3876223"/>
            <a:ext cx="2130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complications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1587A5-C960-AEA7-9940-D670D30EE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Baseline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33870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24718</TotalTime>
  <Words>1792</Words>
  <Application>Microsoft Macintosh PowerPoint</Application>
  <PresentationFormat>Widescreen</PresentationFormat>
  <Paragraphs>323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</vt:lpstr>
      <vt:lpstr>Cambria Math</vt:lpstr>
      <vt:lpstr>Office Theme</vt:lpstr>
      <vt:lpstr>Parkinson’s Data Update</vt:lpstr>
      <vt:lpstr>Sequencing Data Workflow</vt:lpstr>
      <vt:lpstr>QC Results</vt:lpstr>
      <vt:lpstr>PowerPoint Presentation</vt:lpstr>
      <vt:lpstr>Metagenomics Processing</vt:lpstr>
      <vt:lpstr>PowerPoint Presentation</vt:lpstr>
      <vt:lpstr>Gut Microbiome Diversity Differs by PD Status</vt:lpstr>
      <vt:lpstr>Gut Microbiome Diversity Differs by PD and Sex </vt:lpstr>
      <vt:lpstr>Taxonomic Enrichment by PD Status and Sex</vt:lpstr>
      <vt:lpstr>Functional Enrichment</vt:lpstr>
      <vt:lpstr>PD Microbiome Networks in BC Study</vt:lpstr>
      <vt:lpstr>Microbiome Networks Differ by Connectivity</vt:lpstr>
      <vt:lpstr>PowerPoint Presentation</vt:lpstr>
      <vt:lpstr>PowerPoint Presentation</vt:lpstr>
      <vt:lpstr>PowerPoint Presentation</vt:lpstr>
      <vt:lpstr>PD Enrichment after Age Covariate Adjustment Yields Similar Enrichment Profiles</vt:lpstr>
      <vt:lpstr>YYC vs YVR</vt:lpstr>
      <vt:lpstr>Which taxa are different amongst the differences</vt:lpstr>
      <vt:lpstr>Baseline Differences</vt:lpstr>
      <vt:lpstr>Baseline Differences (cont’d)</vt:lpstr>
      <vt:lpstr>PD Baseline Characteristics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Castaneda Mogollon</dc:creator>
  <cp:lastModifiedBy>Daniel Castaneda Mogollon</cp:lastModifiedBy>
  <cp:revision>8</cp:revision>
  <dcterms:created xsi:type="dcterms:W3CDTF">2026-06-01T19:30:45Z</dcterms:created>
  <dcterms:modified xsi:type="dcterms:W3CDTF">2026-07-21T22:11:45Z</dcterms:modified>
</cp:coreProperties>
</file>